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5143500" cx="9144000"/>
  <p:notesSz cx="6858000" cy="9144000"/>
  <p:embeddedFontLst>
    <p:embeddedFont>
      <p:font typeface="Proxima Nova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ProximaNova-bold.fntdata"/><Relationship Id="rId21" Type="http://schemas.openxmlformats.org/officeDocument/2006/relationships/slide" Target="slides/slide16.xml"/><Relationship Id="rId65" Type="http://schemas.openxmlformats.org/officeDocument/2006/relationships/font" Target="fonts/ProximaNova-regular.fntdata"/><Relationship Id="rId24" Type="http://schemas.openxmlformats.org/officeDocument/2006/relationships/slide" Target="slides/slide19.xml"/><Relationship Id="rId68" Type="http://schemas.openxmlformats.org/officeDocument/2006/relationships/font" Target="fonts/ProximaNova-boldItalic.fntdata"/><Relationship Id="rId23" Type="http://schemas.openxmlformats.org/officeDocument/2006/relationships/slide" Target="slides/slide18.xml"/><Relationship Id="rId67" Type="http://schemas.openxmlformats.org/officeDocument/2006/relationships/font" Target="fonts/ProximaNova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1cdae2ae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1cdae2ae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e78428b4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e78428b4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fea6903d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fea6903d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ea6903d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ea6903d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7c04cdc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7c04cdc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fea6903d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fea6903d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7c04cdce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7c04cdce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7c04cdce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7c04cdce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7c04cdce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7c04cdce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7c04cdce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7c04cdce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e78428b4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e78428b4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1cdae2ae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1cdae2ae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7c04cdce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67c04cdce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e78428b4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e78428b4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7c04cdce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7c04cdce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7c04cdce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7c04cdce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7c04cdce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67c04cdce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7c04cdce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7c04cdce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7c04cdce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7c04cdce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7c04cdce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7c04cdce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e78428b4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5e78428b4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1cdae2ae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1cdae2ae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1cdae2ae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1cdae2ae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67b475cd5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67b475cd5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d5addd52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5d5addd52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7c04cdcee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67c04cdce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fea6903d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5fea6903d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61cdae2ae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61cdae2ae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fea6903d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5fea6903d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5d5addd522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5d5addd522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67c04cdce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67c04cdce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5d5addd522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5d5addd522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5d5addd522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5d5addd522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fea6903d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5fea6903d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61cdae2ae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61cdae2ae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1cdae2ae8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61cdae2ae8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67b475cd5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67b475cd5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61cdae2ae8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61cdae2ae8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67b475cd5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67b475cd5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67d93f13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67d93f13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5d5addd522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5d5addd522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fea6903d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5fea6903d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67b475cd5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67b475cd5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67d93f13e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67d93f13e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5d5addd522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5d5addd522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67b475cd5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67b475cd5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67d93f13e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67d93f13e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5d5addd52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5d5addd52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61cdae2ae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61cdae2ae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61cdae2ae8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61cdae2ae8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67d93f13e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67d93f13e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5e78428b4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5e78428b4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5d5addd522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5d5addd522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5d5addd522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5d5addd522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5d5addd522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5d5addd52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5d5addd522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5d5addd52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61cdae2ae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61cdae2ae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5d5addd522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5d5addd522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4.jpg"/><Relationship Id="rId6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3.png"/><Relationship Id="rId6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Relationship Id="rId6" Type="http://schemas.openxmlformats.org/officeDocument/2006/relationships/image" Target="../media/image3.png"/><Relationship Id="rId7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4.jpg"/><Relationship Id="rId9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25.png"/><Relationship Id="rId7" Type="http://schemas.openxmlformats.org/officeDocument/2006/relationships/image" Target="../media/image3.png"/><Relationship Id="rId8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7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4.png"/><Relationship Id="rId4" Type="http://schemas.openxmlformats.org/officeDocument/2006/relationships/image" Target="../media/image4.jpg"/><Relationship Id="rId10" Type="http://schemas.openxmlformats.org/officeDocument/2006/relationships/image" Target="../media/image20.png"/><Relationship Id="rId9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25.png"/><Relationship Id="rId7" Type="http://schemas.openxmlformats.org/officeDocument/2006/relationships/image" Target="../media/image3.png"/><Relationship Id="rId8" Type="http://schemas.openxmlformats.org/officeDocument/2006/relationships/image" Target="../media/image2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</a:rPr>
              <a:t>On the </a:t>
            </a:r>
            <a:r>
              <a:rPr b="1" lang="en" sz="4400">
                <a:solidFill>
                  <a:schemeClr val="dk2"/>
                </a:solidFill>
              </a:rPr>
              <a:t>Constancy </a:t>
            </a:r>
            <a:r>
              <a:rPr lang="en" sz="4400">
                <a:solidFill>
                  <a:schemeClr val="dk1"/>
                </a:solidFill>
              </a:rPr>
              <a:t>of </a:t>
            </a:r>
            <a:r>
              <a:rPr b="1" lang="en" sz="4400">
                <a:solidFill>
                  <a:schemeClr val="dk2"/>
                </a:solidFill>
              </a:rPr>
              <a:t>Latency </a:t>
            </a:r>
            <a:r>
              <a:rPr lang="en" sz="4400">
                <a:solidFill>
                  <a:schemeClr val="dk1"/>
                </a:solidFill>
              </a:rPr>
              <a:t>at the Internet’s </a:t>
            </a:r>
            <a:r>
              <a:rPr b="1" lang="en" sz="4400">
                <a:solidFill>
                  <a:schemeClr val="dk2"/>
                </a:solidFill>
              </a:rPr>
              <a:t>Edge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Aditya</a:t>
            </a:r>
            <a:r>
              <a:rPr lang="en" sz="1800">
                <a:solidFill>
                  <a:schemeClr val="dk1"/>
                </a:solidFill>
              </a:rPr>
              <a:t>, Vaibhav, Aniket, Balakrishnan, and Vinayak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600" y="3812325"/>
            <a:ext cx="3188125" cy="77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625" y="3812325"/>
            <a:ext cx="3672621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490250" y="526350"/>
            <a:ext cx="8115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b="1" lang="en" sz="2600">
                <a:solidFill>
                  <a:schemeClr val="lt1"/>
                </a:solidFill>
              </a:rPr>
              <a:t>Low latency is good, but “constancy” is great</a:t>
            </a:r>
            <a:endParaRPr b="1" sz="2600">
              <a:solidFill>
                <a:schemeClr val="lt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" sz="2600">
                <a:solidFill>
                  <a:schemeClr val="lt1"/>
                </a:solidFill>
              </a:rPr>
              <a:t>Measuring “constancy” of latency</a:t>
            </a:r>
            <a:endParaRPr sz="2600">
              <a:solidFill>
                <a:schemeClr val="lt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" sz="2600">
                <a:solidFill>
                  <a:schemeClr val="lt1"/>
                </a:solidFill>
              </a:rPr>
              <a:t>Methodology</a:t>
            </a:r>
            <a:endParaRPr sz="2600">
              <a:solidFill>
                <a:schemeClr val="lt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" sz="2600">
                <a:solidFill>
                  <a:schemeClr val="lt1"/>
                </a:solidFill>
              </a:rPr>
              <a:t>Findings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490250" y="526350"/>
            <a:ext cx="5797500" cy="105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</a:rPr>
              <a:t>Outline</a:t>
            </a:r>
            <a:endParaRPr sz="5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matters!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550" y="3312513"/>
            <a:ext cx="1911050" cy="10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 technical diagram of how data is received to a user from a origin server, with and without a CDN server. Keep the cdn server close to the user and the origin server far away. use simple colors. use icons only NO TEXT anyw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13" y="378227"/>
            <a:ext cx="7451525" cy="421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5">
            <a:alphaModFix/>
          </a:blip>
          <a:srcRect b="29489" l="0" r="0" t="30583"/>
          <a:stretch/>
        </p:blipFill>
        <p:spPr>
          <a:xfrm>
            <a:off x="3132350" y="3419773"/>
            <a:ext cx="2143125" cy="8556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532025" y="3016125"/>
            <a:ext cx="170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CDN SERVER</a:t>
            </a: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5792400" y="3096975"/>
            <a:ext cx="19110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ORIGIN SERVER</a:t>
            </a: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382100" y="1724500"/>
            <a:ext cx="1776300" cy="2550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80" name="Google Shape;80;p15"/>
          <p:cNvCxnSpPr/>
          <p:nvPr/>
        </p:nvCxnSpPr>
        <p:spPr>
          <a:xfrm flipH="1" rot="10800000">
            <a:off x="3353575" y="2434575"/>
            <a:ext cx="1814100" cy="5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5"/>
          <p:cNvSpPr txBox="1"/>
          <p:nvPr/>
        </p:nvSpPr>
        <p:spPr>
          <a:xfrm>
            <a:off x="3574350" y="1976788"/>
            <a:ext cx="1538100" cy="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RTT: 100 ms</a:t>
            </a:r>
            <a:endParaRPr b="1" sz="18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40288" y="881675"/>
            <a:ext cx="78450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Latency impacts</a:t>
            </a: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user experience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and </a:t>
            </a: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app performance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1636075" y="3419775"/>
            <a:ext cx="17175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👎</a:t>
            </a:r>
            <a:endParaRPr sz="60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2699975" y="1561925"/>
            <a:ext cx="853500" cy="72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5029525" y="1561925"/>
            <a:ext cx="853500" cy="72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15"/>
          <p:cNvSpPr/>
          <p:nvPr/>
        </p:nvSpPr>
        <p:spPr>
          <a:xfrm rot="-5400000">
            <a:off x="2438875" y="2361075"/>
            <a:ext cx="1119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5"/>
          <p:cNvSpPr/>
          <p:nvPr/>
        </p:nvSpPr>
        <p:spPr>
          <a:xfrm rot="5400000">
            <a:off x="5989725" y="2361075"/>
            <a:ext cx="1119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6">
            <a:alphaModFix amt="19000"/>
          </a:blip>
          <a:srcRect b="0" l="0" r="0" t="13770"/>
          <a:stretch/>
        </p:blipFill>
        <p:spPr>
          <a:xfrm>
            <a:off x="228600" y="1286456"/>
            <a:ext cx="8433375" cy="3589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matters!</a:t>
            </a:r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550" y="3312513"/>
            <a:ext cx="1911050" cy="10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a technical diagram of how data is received to a user from a origin server, with and without a CDN server. Keep the cdn server close to the user and the origin server far away. use simple colors. use icons only NO TEXT anyw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13" y="378227"/>
            <a:ext cx="7451525" cy="421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3532025" y="3016125"/>
            <a:ext cx="170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CDN SERVER</a:t>
            </a: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792400" y="3096975"/>
            <a:ext cx="19110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ORIGIN SERVER</a:t>
            </a: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40288" y="881675"/>
            <a:ext cx="78450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Nowadays, most 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content is served by </a:t>
            </a: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Delivery Networks 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1576925" y="3457913"/>
            <a:ext cx="1760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👍 </a:t>
            </a:r>
            <a:endParaRPr sz="60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2699975" y="1561925"/>
            <a:ext cx="853500" cy="72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5103725" y="1561925"/>
            <a:ext cx="853500" cy="72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" name="Google Shape;102;p16"/>
          <p:cNvSpPr/>
          <p:nvPr/>
        </p:nvSpPr>
        <p:spPr>
          <a:xfrm rot="-5400000">
            <a:off x="2438875" y="2361075"/>
            <a:ext cx="1119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" name="Google Shape;103;p16"/>
          <p:cNvSpPr/>
          <p:nvPr/>
        </p:nvSpPr>
        <p:spPr>
          <a:xfrm rot="5400000">
            <a:off x="3770425" y="2361075"/>
            <a:ext cx="1119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545000" y="1986000"/>
            <a:ext cx="15441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RTT: 20 ms 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7098" y="3709950"/>
            <a:ext cx="2435108" cy="37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 rotWithShape="1">
          <a:blip r:embed="rId6">
            <a:alphaModFix amt="19000"/>
          </a:blip>
          <a:srcRect b="0" l="0" r="0" t="13770"/>
          <a:stretch/>
        </p:blipFill>
        <p:spPr>
          <a:xfrm>
            <a:off x="279112" y="1307981"/>
            <a:ext cx="8433375" cy="3589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Particularly</a:t>
            </a:r>
            <a:r>
              <a:rPr lang="en"/>
              <a:t> great if latency is </a:t>
            </a:r>
            <a:r>
              <a:rPr lang="en"/>
              <a:t>consistently</a:t>
            </a:r>
            <a:r>
              <a:rPr lang="en"/>
              <a:t> low …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Low latency is good, but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chemeClr val="dk2"/>
                </a:solidFill>
              </a:rPr>
              <a:t>“constancy” </a:t>
            </a:r>
            <a:r>
              <a:rPr lang="en">
                <a:solidFill>
                  <a:srgbClr val="000000"/>
                </a:solidFill>
              </a:rPr>
              <a:t>also matters</a:t>
            </a:r>
            <a:endParaRPr b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chemeClr val="dk2"/>
                </a:solidFill>
              </a:rPr>
              <a:t>Constancy? </a:t>
            </a:r>
            <a:r>
              <a:rPr lang="en">
                <a:solidFill>
                  <a:srgbClr val="000000"/>
                </a:solidFill>
              </a:rPr>
              <a:t>Consistency over time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Has implications for transport (e.g., TCP) and application performance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490250" y="526350"/>
            <a:ext cx="8115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lang="en" sz="2600">
                <a:solidFill>
                  <a:schemeClr val="dk2"/>
                </a:solidFill>
              </a:rPr>
              <a:t>Low latency is good, but “constancy” is great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b="1" lang="en" sz="2600">
                <a:solidFill>
                  <a:schemeClr val="lt1"/>
                </a:solidFill>
              </a:rPr>
              <a:t>Measuring “constancy” of latency</a:t>
            </a:r>
            <a:endParaRPr b="1" sz="2600">
              <a:solidFill>
                <a:schemeClr val="lt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" sz="2600">
                <a:solidFill>
                  <a:schemeClr val="lt1"/>
                </a:solidFill>
              </a:rPr>
              <a:t>Methodology</a:t>
            </a:r>
            <a:endParaRPr sz="2600">
              <a:solidFill>
                <a:schemeClr val="lt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" sz="2600">
                <a:solidFill>
                  <a:schemeClr val="lt1"/>
                </a:solidFill>
              </a:rPr>
              <a:t>Findings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118" name="Google Shape;118;p18"/>
          <p:cNvSpPr txBox="1"/>
          <p:nvPr>
            <p:ph type="title"/>
          </p:nvPr>
        </p:nvSpPr>
        <p:spPr>
          <a:xfrm>
            <a:off x="490250" y="526350"/>
            <a:ext cx="5797500" cy="105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</a:rPr>
              <a:t>Outline</a:t>
            </a:r>
            <a:endParaRPr sz="5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“Constancy”?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“Constancy”?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4286700" y="2340900"/>
            <a:ext cx="570600" cy="461700"/>
          </a:xfrm>
          <a:prstGeom prst="rect">
            <a:avLst/>
          </a:prstGeom>
          <a:solidFill>
            <a:srgbClr val="A64D7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No!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“Constancy”?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4286700" y="2340900"/>
            <a:ext cx="570600" cy="461700"/>
          </a:xfrm>
          <a:prstGeom prst="rect">
            <a:avLst/>
          </a:prstGeom>
          <a:solidFill>
            <a:srgbClr val="A64D7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No!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4923225" y="2202300"/>
            <a:ext cx="2924400" cy="738900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What if the ‘signal’ had some “wiggle” room?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Operational</a:t>
            </a:r>
            <a:r>
              <a:rPr lang="en"/>
              <a:t> Constancy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4923225" y="2202300"/>
            <a:ext cx="2924400" cy="738900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What if the ‘signal’ had some “wiggle” room?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1773825" y="3393125"/>
            <a:ext cx="6073800" cy="738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70225" y="3393125"/>
            <a:ext cx="2924400" cy="738900"/>
          </a:xfrm>
          <a:prstGeom prst="rect">
            <a:avLst/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Changes within this range do </a:t>
            </a:r>
            <a:r>
              <a:rPr b="1" i="1" lang="en" sz="18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not</a:t>
            </a:r>
            <a:r>
              <a:rPr i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matter!</a:t>
            </a:r>
            <a:endParaRPr i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Operational</a:t>
            </a:r>
            <a:r>
              <a:rPr lang="en"/>
              <a:t> Constancy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/>
          <p:nvPr/>
        </p:nvSpPr>
        <p:spPr>
          <a:xfrm>
            <a:off x="1773825" y="3393125"/>
            <a:ext cx="6073800" cy="738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70225" y="2479500"/>
            <a:ext cx="2924400" cy="461700"/>
          </a:xfrm>
          <a:prstGeom prst="rect">
            <a:avLst/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“Practical” </a:t>
            </a:r>
            <a:r>
              <a:rPr b="1" i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thresholds</a:t>
            </a:r>
            <a:endParaRPr b="1" i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808650" y="3531725"/>
            <a:ext cx="786300" cy="461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25ms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58" name="Google Shape;158;p23"/>
          <p:cNvCxnSpPr/>
          <p:nvPr/>
        </p:nvCxnSpPr>
        <p:spPr>
          <a:xfrm>
            <a:off x="1594950" y="3309725"/>
            <a:ext cx="0" cy="90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Constancy</a:t>
            </a:r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688" y="1604650"/>
            <a:ext cx="6950637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Constancy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Within </a:t>
            </a:r>
            <a:r>
              <a:rPr b="1" lang="en">
                <a:solidFill>
                  <a:schemeClr val="dk2"/>
                </a:solidFill>
              </a:rPr>
              <a:t>acceptable </a:t>
            </a:r>
            <a:r>
              <a:rPr lang="en">
                <a:solidFill>
                  <a:srgbClr val="000000"/>
                </a:solidFill>
              </a:rPr>
              <a:t>(practical) threshold </a:t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688" y="1604650"/>
            <a:ext cx="6950637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/>
          <p:nvPr/>
        </p:nvSpPr>
        <p:spPr>
          <a:xfrm>
            <a:off x="1526775" y="3541500"/>
            <a:ext cx="5936400" cy="487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Predictive</a:t>
            </a:r>
            <a:r>
              <a:rPr lang="en"/>
              <a:t> Constancy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Predictive</a:t>
            </a:r>
            <a:r>
              <a:rPr lang="en"/>
              <a:t> Constancy</a:t>
            </a:r>
            <a:endParaRPr/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563" y="1517575"/>
            <a:ext cx="6949439" cy="3419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Predictive</a:t>
            </a:r>
            <a:r>
              <a:rPr lang="en"/>
              <a:t> Constancy</a:t>
            </a:r>
            <a:endParaRPr/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563" y="1517575"/>
            <a:ext cx="6949439" cy="341985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8"/>
          <p:cNvSpPr txBox="1"/>
          <p:nvPr/>
        </p:nvSpPr>
        <p:spPr>
          <a:xfrm>
            <a:off x="1878650" y="2063850"/>
            <a:ext cx="2507700" cy="1015800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Smaller variations, better predictions, higher constancy …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Mathematical</a:t>
            </a:r>
            <a:r>
              <a:rPr lang="en"/>
              <a:t> Constancy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Mathematical</a:t>
            </a:r>
            <a:r>
              <a:rPr lang="en"/>
              <a:t> Constancy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30"/>
          <p:cNvCxnSpPr/>
          <p:nvPr/>
        </p:nvCxnSpPr>
        <p:spPr>
          <a:xfrm>
            <a:off x="2105375" y="434495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30"/>
          <p:cNvCxnSpPr/>
          <p:nvPr/>
        </p:nvCxnSpPr>
        <p:spPr>
          <a:xfrm>
            <a:off x="3485900" y="351690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30"/>
          <p:cNvCxnSpPr/>
          <p:nvPr/>
        </p:nvCxnSpPr>
        <p:spPr>
          <a:xfrm>
            <a:off x="4979950" y="2110875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0"/>
          <p:cNvCxnSpPr/>
          <p:nvPr/>
        </p:nvCxnSpPr>
        <p:spPr>
          <a:xfrm>
            <a:off x="6453400" y="406940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30"/>
          <p:cNvSpPr txBox="1"/>
          <p:nvPr/>
        </p:nvSpPr>
        <p:spPr>
          <a:xfrm>
            <a:off x="1878650" y="2063850"/>
            <a:ext cx="2507700" cy="738900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Ignore “</a:t>
            </a: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small</a:t>
            </a:r>
            <a:r>
              <a:rPr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” variations</a:t>
            </a:r>
            <a:endParaRPr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Mathematical</a:t>
            </a:r>
            <a:r>
              <a:rPr lang="en"/>
              <a:t> Constancy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31"/>
          <p:cNvCxnSpPr/>
          <p:nvPr/>
        </p:nvCxnSpPr>
        <p:spPr>
          <a:xfrm>
            <a:off x="2105375" y="434495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31"/>
          <p:cNvCxnSpPr/>
          <p:nvPr/>
        </p:nvCxnSpPr>
        <p:spPr>
          <a:xfrm>
            <a:off x="3485900" y="351690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31"/>
          <p:cNvCxnSpPr/>
          <p:nvPr/>
        </p:nvCxnSpPr>
        <p:spPr>
          <a:xfrm>
            <a:off x="4979950" y="2110875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31"/>
          <p:cNvCxnSpPr/>
          <p:nvPr/>
        </p:nvCxnSpPr>
        <p:spPr>
          <a:xfrm>
            <a:off x="6453400" y="406940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31"/>
          <p:cNvSpPr txBox="1"/>
          <p:nvPr/>
        </p:nvSpPr>
        <p:spPr>
          <a:xfrm>
            <a:off x="1747850" y="3607700"/>
            <a:ext cx="1300500" cy="461700"/>
          </a:xfrm>
          <a:prstGeom prst="rect">
            <a:avLst/>
          </a:prstGeom>
          <a:solidFill>
            <a:srgbClr val="A64D7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Level shift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3440150" y="2489175"/>
            <a:ext cx="1300500" cy="461700"/>
          </a:xfrm>
          <a:prstGeom prst="rect">
            <a:avLst/>
          </a:prstGeom>
          <a:solidFill>
            <a:srgbClr val="A64D7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Level shift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21" name="Google Shape;221;p31"/>
          <p:cNvCxnSpPr/>
          <p:nvPr/>
        </p:nvCxnSpPr>
        <p:spPr>
          <a:xfrm flipH="1" rot="10800000">
            <a:off x="3048350" y="3530000"/>
            <a:ext cx="391800" cy="678300"/>
          </a:xfrm>
          <a:prstGeom prst="straightConnector1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2" name="Google Shape;222;p31"/>
          <p:cNvCxnSpPr/>
          <p:nvPr/>
        </p:nvCxnSpPr>
        <p:spPr>
          <a:xfrm flipH="1" rot="10800000">
            <a:off x="4676600" y="2208825"/>
            <a:ext cx="322200" cy="1202400"/>
          </a:xfrm>
          <a:prstGeom prst="straightConnector1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Mathematical</a:t>
            </a:r>
            <a:r>
              <a:rPr lang="en"/>
              <a:t> Constancy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32"/>
          <p:cNvCxnSpPr/>
          <p:nvPr/>
        </p:nvCxnSpPr>
        <p:spPr>
          <a:xfrm>
            <a:off x="2105375" y="434495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2"/>
          <p:cNvCxnSpPr/>
          <p:nvPr/>
        </p:nvCxnSpPr>
        <p:spPr>
          <a:xfrm>
            <a:off x="3485900" y="351690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2"/>
          <p:cNvCxnSpPr/>
          <p:nvPr/>
        </p:nvCxnSpPr>
        <p:spPr>
          <a:xfrm>
            <a:off x="4979950" y="2110875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2"/>
          <p:cNvCxnSpPr/>
          <p:nvPr/>
        </p:nvCxnSpPr>
        <p:spPr>
          <a:xfrm>
            <a:off x="6453400" y="406940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2"/>
          <p:cNvCxnSpPr/>
          <p:nvPr/>
        </p:nvCxnSpPr>
        <p:spPr>
          <a:xfrm rot="10800000">
            <a:off x="3456835" y="1610050"/>
            <a:ext cx="0" cy="3085800"/>
          </a:xfrm>
          <a:prstGeom prst="straightConnector1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34" name="Google Shape;234;p32"/>
          <p:cNvSpPr txBox="1"/>
          <p:nvPr/>
        </p:nvSpPr>
        <p:spPr>
          <a:xfrm>
            <a:off x="1900250" y="1880025"/>
            <a:ext cx="1660200" cy="461700"/>
          </a:xfrm>
          <a:prstGeom prst="rect">
            <a:avLst/>
          </a:prstGeom>
          <a:solidFill>
            <a:srgbClr val="A64D7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Change point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35" name="Google Shape;235;p32"/>
          <p:cNvCxnSpPr/>
          <p:nvPr/>
        </p:nvCxnSpPr>
        <p:spPr>
          <a:xfrm rot="10800000">
            <a:off x="4876335" y="1610050"/>
            <a:ext cx="0" cy="3085800"/>
          </a:xfrm>
          <a:prstGeom prst="straightConnector1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36" name="Google Shape;236;p32"/>
          <p:cNvSpPr txBox="1"/>
          <p:nvPr/>
        </p:nvSpPr>
        <p:spPr>
          <a:xfrm>
            <a:off x="4057153" y="2565825"/>
            <a:ext cx="1660200" cy="461700"/>
          </a:xfrm>
          <a:prstGeom prst="rect">
            <a:avLst/>
          </a:prstGeom>
          <a:solidFill>
            <a:srgbClr val="A64D7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Change point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Mathematical</a:t>
            </a:r>
            <a:r>
              <a:rPr lang="en"/>
              <a:t> Constancy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33"/>
          <p:cNvCxnSpPr/>
          <p:nvPr/>
        </p:nvCxnSpPr>
        <p:spPr>
          <a:xfrm>
            <a:off x="2105375" y="434495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3"/>
          <p:cNvCxnSpPr/>
          <p:nvPr/>
        </p:nvCxnSpPr>
        <p:spPr>
          <a:xfrm>
            <a:off x="3485900" y="351690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33"/>
          <p:cNvSpPr/>
          <p:nvPr/>
        </p:nvSpPr>
        <p:spPr>
          <a:xfrm>
            <a:off x="2053800" y="1549350"/>
            <a:ext cx="1352100" cy="3291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46" name="Google Shape;246;p33"/>
          <p:cNvCxnSpPr/>
          <p:nvPr/>
        </p:nvCxnSpPr>
        <p:spPr>
          <a:xfrm>
            <a:off x="4979950" y="2110875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3"/>
          <p:cNvCxnSpPr/>
          <p:nvPr/>
        </p:nvCxnSpPr>
        <p:spPr>
          <a:xfrm>
            <a:off x="6453400" y="406940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3"/>
          <p:cNvCxnSpPr/>
          <p:nvPr/>
        </p:nvCxnSpPr>
        <p:spPr>
          <a:xfrm rot="10800000">
            <a:off x="3456835" y="1610050"/>
            <a:ext cx="0" cy="3085800"/>
          </a:xfrm>
          <a:prstGeom prst="straightConnector1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49" name="Google Shape;249;p33"/>
          <p:cNvCxnSpPr/>
          <p:nvPr/>
        </p:nvCxnSpPr>
        <p:spPr>
          <a:xfrm rot="10800000">
            <a:off x="4876335" y="1610050"/>
            <a:ext cx="0" cy="3085800"/>
          </a:xfrm>
          <a:prstGeom prst="straightConnector1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50" name="Google Shape;250;p33"/>
          <p:cNvSpPr txBox="1"/>
          <p:nvPr/>
        </p:nvSpPr>
        <p:spPr>
          <a:xfrm>
            <a:off x="94050" y="2493575"/>
            <a:ext cx="2392500" cy="461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Change free regions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3501055" y="1538412"/>
            <a:ext cx="1352100" cy="3291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4930462" y="1538400"/>
            <a:ext cx="1352100" cy="3291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2931025" y="2874600"/>
            <a:ext cx="340500" cy="34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4332200" y="2874600"/>
            <a:ext cx="340500" cy="34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5867575" y="2874600"/>
            <a:ext cx="340500" cy="34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Mathematical</a:t>
            </a:r>
            <a:r>
              <a:rPr lang="en"/>
              <a:t> Constancy</a:t>
            </a:r>
            <a:endParaRPr/>
          </a:p>
        </p:txBody>
      </p:sp>
      <p:pic>
        <p:nvPicPr>
          <p:cNvPr id="261" name="Google Shape;26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400" y="1607875"/>
            <a:ext cx="6949439" cy="3419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Constancy</a:t>
            </a:r>
            <a:endParaRPr/>
          </a:p>
        </p:txBody>
      </p:sp>
      <p:sp>
        <p:nvSpPr>
          <p:cNvPr id="267" name="Google Shape;26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chemeClr val="dk2"/>
                </a:solidFill>
              </a:rPr>
              <a:t>Forecast </a:t>
            </a:r>
            <a:r>
              <a:rPr lang="en">
                <a:solidFill>
                  <a:schemeClr val="dk1"/>
                </a:solidFill>
              </a:rPr>
              <a:t>from past data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68" name="Google Shape;2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563" y="1517575"/>
            <a:ext cx="6949439" cy="3419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Constancy</a:t>
            </a:r>
            <a:endParaRPr/>
          </a:p>
        </p:txBody>
      </p:sp>
      <p:sp>
        <p:nvSpPr>
          <p:cNvPr id="274" name="Google Shape;27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Where do </a:t>
            </a:r>
            <a:r>
              <a:rPr b="1" lang="en">
                <a:solidFill>
                  <a:schemeClr val="dk2"/>
                </a:solidFill>
              </a:rPr>
              <a:t>level shifts </a:t>
            </a:r>
            <a:r>
              <a:rPr lang="en">
                <a:solidFill>
                  <a:schemeClr val="dk1"/>
                </a:solidFill>
              </a:rPr>
              <a:t>happen? At </a:t>
            </a:r>
            <a:r>
              <a:rPr b="1" lang="en">
                <a:solidFill>
                  <a:schemeClr val="dk2"/>
                </a:solidFill>
              </a:rPr>
              <a:t>change points</a:t>
            </a:r>
            <a:r>
              <a:rPr lang="en">
                <a:solidFill>
                  <a:schemeClr val="dk1"/>
                </a:solidFill>
              </a:rPr>
              <a:t>!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5" name="Google Shape;27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400" y="1607875"/>
            <a:ext cx="6949439" cy="341985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6"/>
          <p:cNvSpPr/>
          <p:nvPr/>
        </p:nvSpPr>
        <p:spPr>
          <a:xfrm>
            <a:off x="1722750" y="3899900"/>
            <a:ext cx="1731900" cy="53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7" name="Google Shape;277;p36"/>
          <p:cNvSpPr/>
          <p:nvPr/>
        </p:nvSpPr>
        <p:spPr>
          <a:xfrm>
            <a:off x="3277925" y="3279750"/>
            <a:ext cx="1731900" cy="53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8" name="Google Shape;278;p36"/>
          <p:cNvSpPr/>
          <p:nvPr/>
        </p:nvSpPr>
        <p:spPr>
          <a:xfrm>
            <a:off x="4833100" y="2120850"/>
            <a:ext cx="1731900" cy="53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9" name="Google Shape;279;p36"/>
          <p:cNvSpPr/>
          <p:nvPr/>
        </p:nvSpPr>
        <p:spPr>
          <a:xfrm>
            <a:off x="6388275" y="3755875"/>
            <a:ext cx="1731900" cy="53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3665375" y="2846850"/>
            <a:ext cx="126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~70ms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1" name="Google Shape;281;p36"/>
          <p:cNvSpPr txBox="1"/>
          <p:nvPr/>
        </p:nvSpPr>
        <p:spPr>
          <a:xfrm>
            <a:off x="5278875" y="1738775"/>
            <a:ext cx="126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~140ms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6623325" y="3329250"/>
            <a:ext cx="126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~50ms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2109975" y="3467000"/>
            <a:ext cx="126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~50ms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Constancy</a:t>
            </a:r>
            <a:endParaRPr/>
          </a:p>
        </p:txBody>
      </p:sp>
      <p:sp>
        <p:nvSpPr>
          <p:cNvPr id="289" name="Google Shape;28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Where do </a:t>
            </a:r>
            <a:r>
              <a:rPr b="1" lang="en">
                <a:solidFill>
                  <a:schemeClr val="dk2"/>
                </a:solidFill>
              </a:rPr>
              <a:t>level shifts </a:t>
            </a:r>
            <a:r>
              <a:rPr lang="en">
                <a:solidFill>
                  <a:schemeClr val="dk1"/>
                </a:solidFill>
              </a:rPr>
              <a:t>happen? At </a:t>
            </a:r>
            <a:r>
              <a:rPr b="1" lang="en">
                <a:solidFill>
                  <a:schemeClr val="dk2"/>
                </a:solidFill>
              </a:rPr>
              <a:t>change points</a:t>
            </a:r>
            <a:r>
              <a:rPr lang="en">
                <a:solidFill>
                  <a:schemeClr val="dk1"/>
                </a:solidFill>
              </a:rPr>
              <a:t>!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0" name="Google Shape;29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400" y="1607875"/>
            <a:ext cx="6949439" cy="341985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7"/>
          <p:cNvSpPr/>
          <p:nvPr/>
        </p:nvSpPr>
        <p:spPr>
          <a:xfrm>
            <a:off x="1722750" y="3899900"/>
            <a:ext cx="1731900" cy="53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2" name="Google Shape;292;p37"/>
          <p:cNvSpPr/>
          <p:nvPr/>
        </p:nvSpPr>
        <p:spPr>
          <a:xfrm>
            <a:off x="3277925" y="3279750"/>
            <a:ext cx="1731900" cy="53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3" name="Google Shape;293;p37"/>
          <p:cNvSpPr/>
          <p:nvPr/>
        </p:nvSpPr>
        <p:spPr>
          <a:xfrm>
            <a:off x="4833100" y="2120850"/>
            <a:ext cx="1731900" cy="53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4" name="Google Shape;294;p37"/>
          <p:cNvSpPr/>
          <p:nvPr/>
        </p:nvSpPr>
        <p:spPr>
          <a:xfrm>
            <a:off x="6388275" y="3755875"/>
            <a:ext cx="1731900" cy="53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5" name="Google Shape;295;p37"/>
          <p:cNvSpPr txBox="1"/>
          <p:nvPr/>
        </p:nvSpPr>
        <p:spPr>
          <a:xfrm>
            <a:off x="3665375" y="2846850"/>
            <a:ext cx="126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~70ms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5278875" y="1738775"/>
            <a:ext cx="126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~140ms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6623325" y="3329250"/>
            <a:ext cx="126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~50ms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2109975" y="3467000"/>
            <a:ext cx="126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~50ms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9" name="Google Shape;299;p37"/>
          <p:cNvSpPr txBox="1"/>
          <p:nvPr/>
        </p:nvSpPr>
        <p:spPr>
          <a:xfrm>
            <a:off x="1895475" y="2643700"/>
            <a:ext cx="147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Change Free Region 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0" name="Google Shape;300;p37"/>
          <p:cNvSpPr/>
          <p:nvPr/>
        </p:nvSpPr>
        <p:spPr>
          <a:xfrm rot="5400000">
            <a:off x="2321075" y="2700900"/>
            <a:ext cx="416700" cy="1613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Zhang et al. (2001) and Davisson et al. (2021) </a:t>
            </a:r>
            <a:endParaRPr b="1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Prior work measured constancy across </a:t>
            </a:r>
            <a:r>
              <a:rPr b="1" lang="en">
                <a:solidFill>
                  <a:srgbClr val="000000"/>
                </a:solidFill>
              </a:rPr>
              <a:t>arbitrary</a:t>
            </a:r>
            <a:r>
              <a:rPr lang="en">
                <a:solidFill>
                  <a:srgbClr val="000000"/>
                </a:solidFill>
              </a:rPr>
              <a:t> Internet paths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Our focus: </a:t>
            </a:r>
            <a:r>
              <a:rPr b="1" lang="en">
                <a:solidFill>
                  <a:schemeClr val="dk2"/>
                </a:solidFill>
              </a:rPr>
              <a:t>end user – CDN server paths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999999"/>
                </a:solidFill>
              </a:rPr>
              <a:t>Y. Zhang and N. Duffield, On the Constancy of Internet Path Properties, IMW, 2001</a:t>
            </a:r>
            <a:endParaRPr i="1" sz="14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400">
                <a:solidFill>
                  <a:srgbClr val="999999"/>
                </a:solidFill>
              </a:rPr>
              <a:t>L. Davisson et al., Reassessing the Constancy of End-to-End Internet Latency, TMA, 2021</a:t>
            </a:r>
            <a:endParaRPr i="1" sz="1400">
              <a:solidFill>
                <a:srgbClr val="999999"/>
              </a:solidFill>
            </a:endParaRPr>
          </a:p>
        </p:txBody>
      </p:sp>
      <p:sp>
        <p:nvSpPr>
          <p:cNvPr id="306" name="Google Shape;30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Standing on the Shoulders of Giants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/>
          <p:nvPr>
            <p:ph type="title"/>
          </p:nvPr>
        </p:nvSpPr>
        <p:spPr>
          <a:xfrm>
            <a:off x="490250" y="526350"/>
            <a:ext cx="8115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lang="en" sz="2600">
                <a:solidFill>
                  <a:schemeClr val="dk2"/>
                </a:solidFill>
              </a:rPr>
              <a:t>Low latency is good, but “constancy” is great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lang="en" sz="2600">
                <a:solidFill>
                  <a:schemeClr val="dk2"/>
                </a:solidFill>
              </a:rPr>
              <a:t>Measuring “constancy” of latency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b="1" lang="en" sz="2600">
                <a:solidFill>
                  <a:schemeClr val="lt1"/>
                </a:solidFill>
              </a:rPr>
              <a:t>Methodology</a:t>
            </a:r>
            <a:endParaRPr b="1" sz="2600">
              <a:solidFill>
                <a:schemeClr val="lt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" sz="2600">
                <a:solidFill>
                  <a:schemeClr val="lt1"/>
                </a:solidFill>
              </a:rPr>
              <a:t>Findings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312" name="Google Shape;312;p39"/>
          <p:cNvSpPr txBox="1"/>
          <p:nvPr>
            <p:ph type="title"/>
          </p:nvPr>
        </p:nvSpPr>
        <p:spPr>
          <a:xfrm>
            <a:off x="490250" y="526350"/>
            <a:ext cx="5797500" cy="105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</a:rPr>
              <a:t>Outline</a:t>
            </a:r>
            <a:endParaRPr sz="5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1152475"/>
            <a:ext cx="279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69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nchors across </a:t>
            </a:r>
            <a:r>
              <a:rPr b="1" lang="en">
                <a:solidFill>
                  <a:schemeClr val="dk2"/>
                </a:solidFill>
              </a:rPr>
              <a:t>34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countries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High </a:t>
            </a:r>
            <a:r>
              <a:rPr b="1" lang="en">
                <a:solidFill>
                  <a:schemeClr val="dk2"/>
                </a:solidFill>
              </a:rPr>
              <a:t>uptime </a:t>
            </a:r>
            <a:r>
              <a:rPr lang="en">
                <a:solidFill>
                  <a:schemeClr val="dk1"/>
                </a:solidFill>
              </a:rPr>
              <a:t>and </a:t>
            </a:r>
            <a:r>
              <a:rPr b="1" lang="en">
                <a:solidFill>
                  <a:schemeClr val="dk2"/>
                </a:solidFill>
              </a:rPr>
              <a:t>diversity</a:t>
            </a:r>
            <a:endParaRPr b="1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Spans </a:t>
            </a:r>
            <a:r>
              <a:rPr b="1" lang="en">
                <a:solidFill>
                  <a:schemeClr val="dk2"/>
                </a:solidFill>
              </a:rPr>
              <a:t>27 </a:t>
            </a:r>
            <a:r>
              <a:rPr lang="en">
                <a:solidFill>
                  <a:schemeClr val="dk1"/>
                </a:solidFill>
              </a:rPr>
              <a:t>ASNs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8" name="Google Shape;31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Anchors for </a:t>
            </a:r>
            <a:r>
              <a:rPr b="1" lang="en">
                <a:solidFill>
                  <a:schemeClr val="dk2"/>
                </a:solidFill>
              </a:rPr>
              <a:t>Vantage Points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319" name="Google Shape;319;p40"/>
          <p:cNvPicPr preferRelativeResize="0"/>
          <p:nvPr/>
        </p:nvPicPr>
        <p:blipFill rotWithShape="1">
          <a:blip r:embed="rId3">
            <a:alphaModFix/>
          </a:blip>
          <a:srcRect b="7854" l="24712" r="25664" t="11837"/>
          <a:stretch/>
        </p:blipFill>
        <p:spPr>
          <a:xfrm>
            <a:off x="1109725" y="3028800"/>
            <a:ext cx="960625" cy="155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2475" y="1391325"/>
            <a:ext cx="5736900" cy="278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1152475"/>
            <a:ext cx="292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100 </a:t>
            </a:r>
            <a:r>
              <a:rPr lang="en">
                <a:solidFill>
                  <a:srgbClr val="000000"/>
                </a:solidFill>
              </a:rPr>
              <a:t>domain names a</a:t>
            </a:r>
            <a:r>
              <a:rPr lang="en">
                <a:solidFill>
                  <a:srgbClr val="000000"/>
                </a:solidFill>
              </a:rPr>
              <a:t>cross </a:t>
            </a:r>
            <a:r>
              <a:rPr b="1" lang="en">
                <a:solidFill>
                  <a:schemeClr val="dk2"/>
                </a:solidFill>
              </a:rPr>
              <a:t>56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countries and </a:t>
            </a:r>
            <a:r>
              <a:rPr b="1" lang="en">
                <a:solidFill>
                  <a:schemeClr val="dk2"/>
                </a:solidFill>
              </a:rPr>
              <a:t>53</a:t>
            </a:r>
            <a:r>
              <a:rPr lang="en">
                <a:solidFill>
                  <a:srgbClr val="000000"/>
                </a:solidFill>
              </a:rPr>
              <a:t> ASNs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5</a:t>
            </a:r>
            <a:r>
              <a:rPr lang="en">
                <a:solidFill>
                  <a:srgbClr val="000000"/>
                </a:solidFill>
              </a:rPr>
              <a:t> CDN Providers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Resolved on anchor to </a:t>
            </a:r>
            <a:r>
              <a:rPr b="1" lang="en">
                <a:solidFill>
                  <a:schemeClr val="dk2"/>
                </a:solidFill>
              </a:rPr>
              <a:t>13,934</a:t>
            </a:r>
            <a:r>
              <a:rPr b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IPs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Obtained by crawling web pages sampled from </a:t>
            </a:r>
            <a:r>
              <a:rPr b="1" lang="en">
                <a:solidFill>
                  <a:schemeClr val="dk2"/>
                </a:solidFill>
              </a:rPr>
              <a:t>Hispar </a:t>
            </a:r>
            <a:r>
              <a:rPr lang="en">
                <a:solidFill>
                  <a:srgbClr val="000000"/>
                </a:solidFill>
              </a:rPr>
              <a:t>list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6" name="Google Shape;32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CDN Domain Names for </a:t>
            </a:r>
            <a:r>
              <a:rPr b="1" lang="en">
                <a:solidFill>
                  <a:schemeClr val="dk2"/>
                </a:solidFill>
              </a:rPr>
              <a:t>Targets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327" name="Google Shape;3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950" y="1445425"/>
            <a:ext cx="5719249" cy="277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CDN Domain Names for </a:t>
            </a:r>
            <a:r>
              <a:rPr b="1" lang="en">
                <a:solidFill>
                  <a:schemeClr val="dk2"/>
                </a:solidFill>
              </a:rPr>
              <a:t>Targets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333" name="Google Shape;33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13" y="185906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2"/>
          <p:cNvPicPr preferRelativeResize="0"/>
          <p:nvPr/>
        </p:nvPicPr>
        <p:blipFill rotWithShape="1">
          <a:blip r:embed="rId4">
            <a:alphaModFix/>
          </a:blip>
          <a:srcRect b="27792" l="0" r="0" t="29891"/>
          <a:stretch/>
        </p:blipFill>
        <p:spPr>
          <a:xfrm>
            <a:off x="4971850" y="2850275"/>
            <a:ext cx="3812275" cy="10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6950" y="3027226"/>
            <a:ext cx="2143125" cy="112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1545" y="1913701"/>
            <a:ext cx="3715931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53524" y="1630474"/>
            <a:ext cx="3005354" cy="122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“Timelines”</a:t>
            </a:r>
            <a:endParaRPr/>
          </a:p>
        </p:txBody>
      </p:sp>
      <p:sp>
        <p:nvSpPr>
          <p:cNvPr id="343" name="Google Shape;343;p43"/>
          <p:cNvSpPr txBox="1"/>
          <p:nvPr>
            <p:ph idx="1" type="body"/>
          </p:nvPr>
        </p:nvSpPr>
        <p:spPr>
          <a:xfrm>
            <a:off x="311700" y="1152475"/>
            <a:ext cx="295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69 </a:t>
            </a:r>
            <a:r>
              <a:rPr lang="en">
                <a:solidFill>
                  <a:srgbClr val="000000"/>
                </a:solidFill>
              </a:rPr>
              <a:t>Vantage Points x </a:t>
            </a:r>
            <a:r>
              <a:rPr b="1" lang="en">
                <a:solidFill>
                  <a:schemeClr val="dk2"/>
                </a:solidFill>
              </a:rPr>
              <a:t>100 </a:t>
            </a:r>
            <a:r>
              <a:rPr lang="en">
                <a:solidFill>
                  <a:srgbClr val="000000"/>
                </a:solidFill>
              </a:rPr>
              <a:t>Targets → </a:t>
            </a:r>
            <a:r>
              <a:rPr b="1" lang="en">
                <a:solidFill>
                  <a:schemeClr val="dk2"/>
                </a:solidFill>
              </a:rPr>
              <a:t>6900 </a:t>
            </a:r>
            <a:r>
              <a:rPr lang="en">
                <a:solidFill>
                  <a:srgbClr val="000000"/>
                </a:solidFill>
              </a:rPr>
              <a:t>timelines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Pings every </a:t>
            </a:r>
            <a:r>
              <a:rPr b="1" lang="en">
                <a:solidFill>
                  <a:schemeClr val="dk2"/>
                </a:solidFill>
              </a:rPr>
              <a:t>2 </a:t>
            </a:r>
            <a:r>
              <a:rPr lang="en">
                <a:solidFill>
                  <a:srgbClr val="000000"/>
                </a:solidFill>
              </a:rPr>
              <a:t>hours for </a:t>
            </a:r>
            <a:r>
              <a:rPr b="1" lang="en">
                <a:solidFill>
                  <a:schemeClr val="dk2"/>
                </a:solidFill>
              </a:rPr>
              <a:t>10 </a:t>
            </a:r>
            <a:r>
              <a:rPr lang="en">
                <a:solidFill>
                  <a:srgbClr val="000000"/>
                </a:solidFill>
              </a:rPr>
              <a:t>consecutive days (including weekends)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344" name="Google Shape;34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8375" y="3087925"/>
            <a:ext cx="819900" cy="81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3"/>
          <p:cNvPicPr preferRelativeResize="0"/>
          <p:nvPr/>
        </p:nvPicPr>
        <p:blipFill rotWithShape="1">
          <a:blip r:embed="rId4">
            <a:alphaModFix/>
          </a:blip>
          <a:srcRect b="25176" l="0" r="0" t="23348"/>
          <a:stretch/>
        </p:blipFill>
        <p:spPr>
          <a:xfrm>
            <a:off x="7185650" y="3155474"/>
            <a:ext cx="1094465" cy="7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3"/>
          <p:cNvPicPr preferRelativeResize="0"/>
          <p:nvPr/>
        </p:nvPicPr>
        <p:blipFill rotWithShape="1">
          <a:blip r:embed="rId5">
            <a:alphaModFix/>
          </a:blip>
          <a:srcRect b="19238" l="0" r="0" t="22813"/>
          <a:stretch/>
        </p:blipFill>
        <p:spPr>
          <a:xfrm>
            <a:off x="6277600" y="4233550"/>
            <a:ext cx="1097250" cy="548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94908" y="4256672"/>
            <a:ext cx="632829" cy="43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58565" y="3961477"/>
            <a:ext cx="1097248" cy="219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3" title="a technical diagram of how data is received to a user from a origin server, with and without a CDN server. Keep the cdn server close to the user and the origin server far away. use simple colors. use icons only NO TEXT anyw.jpg"/>
          <p:cNvPicPr preferRelativeResize="0"/>
          <p:nvPr/>
        </p:nvPicPr>
        <p:blipFill rotWithShape="1">
          <a:blip r:embed="rId8">
            <a:alphaModFix/>
          </a:blip>
          <a:srcRect b="30236" l="8920" r="43681" t="30464"/>
          <a:stretch/>
        </p:blipFill>
        <p:spPr>
          <a:xfrm>
            <a:off x="3131325" y="938150"/>
            <a:ext cx="4905451" cy="22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3"/>
          <p:cNvSpPr txBox="1"/>
          <p:nvPr/>
        </p:nvSpPr>
        <p:spPr>
          <a:xfrm>
            <a:off x="6911850" y="2681175"/>
            <a:ext cx="170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Targets</a:t>
            </a: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1" name="Google Shape;351;p43"/>
          <p:cNvSpPr/>
          <p:nvPr/>
        </p:nvSpPr>
        <p:spPr>
          <a:xfrm>
            <a:off x="5246175" y="938150"/>
            <a:ext cx="853500" cy="72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2" name="Google Shape;352;p43"/>
          <p:cNvSpPr/>
          <p:nvPr/>
        </p:nvSpPr>
        <p:spPr>
          <a:xfrm rot="-5400000">
            <a:off x="4720300" y="1939350"/>
            <a:ext cx="1119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3" name="Google Shape;353;p43"/>
          <p:cNvSpPr/>
          <p:nvPr/>
        </p:nvSpPr>
        <p:spPr>
          <a:xfrm rot="5400000">
            <a:off x="6571025" y="1939350"/>
            <a:ext cx="1119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4" name="Google Shape;354;p43"/>
          <p:cNvSpPr/>
          <p:nvPr/>
        </p:nvSpPr>
        <p:spPr>
          <a:xfrm>
            <a:off x="2945425" y="2971150"/>
            <a:ext cx="637800" cy="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55" name="Google Shape;355;p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41900" y="3155475"/>
            <a:ext cx="1655100" cy="16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3"/>
          <p:cNvSpPr txBox="1"/>
          <p:nvPr/>
        </p:nvSpPr>
        <p:spPr>
          <a:xfrm>
            <a:off x="5233488" y="1310700"/>
            <a:ext cx="131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Timeline</a:t>
            </a: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   RTT</a:t>
            </a: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7" name="Google Shape;357;p43"/>
          <p:cNvSpPr txBox="1"/>
          <p:nvPr/>
        </p:nvSpPr>
        <p:spPr>
          <a:xfrm>
            <a:off x="7042425" y="4109625"/>
            <a:ext cx="1655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8" name="Google Shape;358;p43"/>
          <p:cNvSpPr/>
          <p:nvPr/>
        </p:nvSpPr>
        <p:spPr>
          <a:xfrm>
            <a:off x="3991000" y="2859625"/>
            <a:ext cx="861600" cy="43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9" name="Google Shape;359;p43"/>
          <p:cNvSpPr txBox="1"/>
          <p:nvPr/>
        </p:nvSpPr>
        <p:spPr>
          <a:xfrm>
            <a:off x="3589150" y="2681175"/>
            <a:ext cx="2374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Vantage Points</a:t>
            </a:r>
            <a:b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0" name="Google Shape;360;p43"/>
          <p:cNvSpPr/>
          <p:nvPr/>
        </p:nvSpPr>
        <p:spPr>
          <a:xfrm>
            <a:off x="8029025" y="901700"/>
            <a:ext cx="722400" cy="18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4"/>
          <p:cNvSpPr txBox="1"/>
          <p:nvPr>
            <p:ph type="title"/>
          </p:nvPr>
        </p:nvSpPr>
        <p:spPr>
          <a:xfrm>
            <a:off x="490250" y="526350"/>
            <a:ext cx="8115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lang="en" sz="2600">
                <a:solidFill>
                  <a:schemeClr val="dk2"/>
                </a:solidFill>
              </a:rPr>
              <a:t>Low latency is good, but “constancy” is great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lang="en" sz="2600">
                <a:solidFill>
                  <a:schemeClr val="dk2"/>
                </a:solidFill>
              </a:rPr>
              <a:t>Measuring “constancy” of latency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lang="en" sz="2600">
                <a:solidFill>
                  <a:schemeClr val="dk2"/>
                </a:solidFill>
              </a:rPr>
              <a:t>Methodology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b="1" lang="en" sz="2600">
                <a:solidFill>
                  <a:schemeClr val="lt1"/>
                </a:solidFill>
              </a:rPr>
              <a:t>Findings</a:t>
            </a:r>
            <a:endParaRPr b="1" sz="2600">
              <a:solidFill>
                <a:schemeClr val="lt1"/>
              </a:solidFill>
            </a:endParaRPr>
          </a:p>
        </p:txBody>
      </p:sp>
      <p:sp>
        <p:nvSpPr>
          <p:cNvPr id="366" name="Google Shape;366;p44"/>
          <p:cNvSpPr txBox="1"/>
          <p:nvPr>
            <p:ph type="title"/>
          </p:nvPr>
        </p:nvSpPr>
        <p:spPr>
          <a:xfrm>
            <a:off x="490250" y="526350"/>
            <a:ext cx="5797500" cy="105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</a:rPr>
              <a:t>Outline</a:t>
            </a:r>
            <a:endParaRPr sz="5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</a:t>
            </a:r>
            <a:endParaRPr/>
          </a:p>
        </p:txBody>
      </p:sp>
      <p:sp>
        <p:nvSpPr>
          <p:cNvPr id="372" name="Google Shape;37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b="1" lang="en">
                <a:solidFill>
                  <a:schemeClr val="dk2"/>
                </a:solidFill>
              </a:rPr>
              <a:t>Do </a:t>
            </a:r>
            <a:r>
              <a:rPr lang="en">
                <a:solidFill>
                  <a:srgbClr val="000000"/>
                </a:solidFill>
              </a:rPr>
              <a:t>latency spikes occur ? How </a:t>
            </a:r>
            <a:r>
              <a:rPr b="1" lang="en">
                <a:solidFill>
                  <a:schemeClr val="dk2"/>
                </a:solidFill>
              </a:rPr>
              <a:t>often </a:t>
            </a:r>
            <a:r>
              <a:rPr lang="en">
                <a:solidFill>
                  <a:srgbClr val="000000"/>
                </a:solidFill>
              </a:rPr>
              <a:t>and how </a:t>
            </a:r>
            <a:r>
              <a:rPr b="1" lang="en">
                <a:solidFill>
                  <a:schemeClr val="dk2"/>
                </a:solidFill>
              </a:rPr>
              <a:t>large</a:t>
            </a:r>
            <a:r>
              <a:rPr lang="en">
                <a:solidFill>
                  <a:srgbClr val="000000"/>
                </a:solidFill>
              </a:rPr>
              <a:t>?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How </a:t>
            </a:r>
            <a:r>
              <a:rPr b="1" lang="en">
                <a:solidFill>
                  <a:schemeClr val="dk2"/>
                </a:solidFill>
              </a:rPr>
              <a:t>“constant”</a:t>
            </a:r>
            <a:r>
              <a:rPr lang="en">
                <a:solidFill>
                  <a:srgbClr val="000000"/>
                </a:solidFill>
              </a:rPr>
              <a:t> are the observed latencies?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How does </a:t>
            </a:r>
            <a:r>
              <a:rPr b="1" lang="en">
                <a:solidFill>
                  <a:schemeClr val="dk2"/>
                </a:solidFill>
              </a:rPr>
              <a:t>latency inflation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in these paths look like?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Spikes</a:t>
            </a:r>
            <a:endParaRPr/>
          </a:p>
        </p:txBody>
      </p:sp>
      <p:pic>
        <p:nvPicPr>
          <p:cNvPr id="378" name="Google Shape;37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525" y="1170125"/>
            <a:ext cx="5808074" cy="32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Spikes</a:t>
            </a:r>
            <a:endParaRPr/>
          </a:p>
        </p:txBody>
      </p:sp>
      <p:sp>
        <p:nvSpPr>
          <p:cNvPr id="384" name="Google Shape;384;p47"/>
          <p:cNvSpPr txBox="1"/>
          <p:nvPr>
            <p:ph idx="1" type="body"/>
          </p:nvPr>
        </p:nvSpPr>
        <p:spPr>
          <a:xfrm>
            <a:off x="311700" y="1152475"/>
            <a:ext cx="2871900" cy="3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Only 3.84% </a:t>
            </a:r>
            <a:r>
              <a:rPr lang="en">
                <a:solidFill>
                  <a:srgbClr val="000000"/>
                </a:solidFill>
              </a:rPr>
              <a:t>of RTTs &gt; </a:t>
            </a:r>
            <a:r>
              <a:rPr b="1" lang="en">
                <a:solidFill>
                  <a:schemeClr val="dk2"/>
                </a:solidFill>
              </a:rPr>
              <a:t>10 x </a:t>
            </a:r>
            <a:r>
              <a:rPr lang="en">
                <a:solidFill>
                  <a:srgbClr val="000000"/>
                </a:solidFill>
              </a:rPr>
              <a:t>median of timeline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385" name="Google Shape;38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525" y="1170125"/>
            <a:ext cx="5808074" cy="3224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p47"/>
          <p:cNvCxnSpPr/>
          <p:nvPr/>
        </p:nvCxnSpPr>
        <p:spPr>
          <a:xfrm>
            <a:off x="7806900" y="1220200"/>
            <a:ext cx="8400" cy="227520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47"/>
          <p:cNvSpPr txBox="1"/>
          <p:nvPr/>
        </p:nvSpPr>
        <p:spPr>
          <a:xfrm>
            <a:off x="6802575" y="567750"/>
            <a:ext cx="2019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10 x Median RTT</a:t>
            </a:r>
            <a:b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	(spike)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Spikes</a:t>
            </a:r>
            <a:endParaRPr/>
          </a:p>
        </p:txBody>
      </p:sp>
      <p:sp>
        <p:nvSpPr>
          <p:cNvPr id="393" name="Google Shape;393;p48"/>
          <p:cNvSpPr txBox="1"/>
          <p:nvPr>
            <p:ph idx="1" type="body"/>
          </p:nvPr>
        </p:nvSpPr>
        <p:spPr>
          <a:xfrm>
            <a:off x="311700" y="1152475"/>
            <a:ext cx="2871900" cy="3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Only 3.84% </a:t>
            </a:r>
            <a:r>
              <a:rPr lang="en">
                <a:solidFill>
                  <a:srgbClr val="000000"/>
                </a:solidFill>
              </a:rPr>
              <a:t>of RTTs &gt; </a:t>
            </a:r>
            <a:r>
              <a:rPr b="1" lang="en">
                <a:solidFill>
                  <a:schemeClr val="dk2"/>
                </a:solidFill>
              </a:rPr>
              <a:t>10 x </a:t>
            </a:r>
            <a:r>
              <a:rPr lang="en">
                <a:solidFill>
                  <a:srgbClr val="000000"/>
                </a:solidFill>
              </a:rPr>
              <a:t>median of timeline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7.5% &gt; 2 x median of timeline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Spikes mostly in inter-AS paths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394" name="Google Shape;39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525" y="1170125"/>
            <a:ext cx="5808074" cy="3224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" name="Google Shape;395;p48"/>
          <p:cNvCxnSpPr/>
          <p:nvPr/>
        </p:nvCxnSpPr>
        <p:spPr>
          <a:xfrm>
            <a:off x="7806900" y="1220200"/>
            <a:ext cx="8400" cy="227520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48"/>
          <p:cNvSpPr txBox="1"/>
          <p:nvPr/>
        </p:nvSpPr>
        <p:spPr>
          <a:xfrm>
            <a:off x="6802575" y="567750"/>
            <a:ext cx="2019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10 x Median RTT</a:t>
            </a:r>
            <a:b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	(spike)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Variation</a:t>
            </a:r>
            <a:endParaRPr/>
          </a:p>
        </p:txBody>
      </p:sp>
      <p:pic>
        <p:nvPicPr>
          <p:cNvPr id="402" name="Google Shape;40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700" y="1170125"/>
            <a:ext cx="5682900" cy="3190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Variation</a:t>
            </a:r>
            <a:endParaRPr/>
          </a:p>
        </p:txBody>
      </p:sp>
      <p:sp>
        <p:nvSpPr>
          <p:cNvPr id="408" name="Google Shape;408;p50"/>
          <p:cNvSpPr txBox="1"/>
          <p:nvPr>
            <p:ph idx="1" type="body"/>
          </p:nvPr>
        </p:nvSpPr>
        <p:spPr>
          <a:xfrm>
            <a:off x="311700" y="1152475"/>
            <a:ext cx="299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Around </a:t>
            </a:r>
            <a:r>
              <a:rPr b="1" lang="en">
                <a:solidFill>
                  <a:schemeClr val="dk2"/>
                </a:solidFill>
              </a:rPr>
              <a:t>70% </a:t>
            </a:r>
            <a:r>
              <a:rPr lang="en">
                <a:solidFill>
                  <a:srgbClr val="000000"/>
                </a:solidFill>
              </a:rPr>
              <a:t>of paths: minimal variation (IQR &lt; 10ms)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409" name="Google Shape;40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700" y="1170125"/>
            <a:ext cx="5682900" cy="31902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" name="Google Shape;410;p50"/>
          <p:cNvCxnSpPr/>
          <p:nvPr/>
        </p:nvCxnSpPr>
        <p:spPr>
          <a:xfrm flipH="1" rot="10800000">
            <a:off x="4401975" y="1909200"/>
            <a:ext cx="274800" cy="210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50"/>
          <p:cNvCxnSpPr/>
          <p:nvPr/>
        </p:nvCxnSpPr>
        <p:spPr>
          <a:xfrm>
            <a:off x="4676875" y="1909275"/>
            <a:ext cx="0" cy="158400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Variation</a:t>
            </a:r>
            <a:endParaRPr/>
          </a:p>
        </p:txBody>
      </p:sp>
      <p:sp>
        <p:nvSpPr>
          <p:cNvPr id="417" name="Google Shape;417;p51"/>
          <p:cNvSpPr txBox="1"/>
          <p:nvPr>
            <p:ph idx="1" type="body"/>
          </p:nvPr>
        </p:nvSpPr>
        <p:spPr>
          <a:xfrm>
            <a:off x="311700" y="1152475"/>
            <a:ext cx="299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Around </a:t>
            </a:r>
            <a:r>
              <a:rPr b="1" lang="en">
                <a:solidFill>
                  <a:schemeClr val="dk2"/>
                </a:solidFill>
              </a:rPr>
              <a:t>70% </a:t>
            </a:r>
            <a:r>
              <a:rPr lang="en">
                <a:solidFill>
                  <a:srgbClr val="000000"/>
                </a:solidFill>
              </a:rPr>
              <a:t>of paths: minimal variation (IQR &lt; 10ms)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5% show IQR &gt; 100ms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Intra-AS: less variation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418" name="Google Shape;41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700" y="1170125"/>
            <a:ext cx="5682900" cy="31902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9" name="Google Shape;419;p51"/>
          <p:cNvCxnSpPr/>
          <p:nvPr/>
        </p:nvCxnSpPr>
        <p:spPr>
          <a:xfrm flipH="1" rot="10800000">
            <a:off x="4401975" y="1909200"/>
            <a:ext cx="274800" cy="210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51"/>
          <p:cNvCxnSpPr/>
          <p:nvPr/>
        </p:nvCxnSpPr>
        <p:spPr>
          <a:xfrm>
            <a:off x="4676875" y="1909275"/>
            <a:ext cx="0" cy="158400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Constancy</a:t>
            </a:r>
            <a:endParaRPr/>
          </a:p>
        </p:txBody>
      </p:sp>
      <p:sp>
        <p:nvSpPr>
          <p:cNvPr id="426" name="Google Shape;426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Within </a:t>
            </a:r>
            <a:r>
              <a:rPr b="1" lang="en">
                <a:solidFill>
                  <a:schemeClr val="dk2"/>
                </a:solidFill>
              </a:rPr>
              <a:t>acceptable </a:t>
            </a:r>
            <a:r>
              <a:rPr lang="en">
                <a:solidFill>
                  <a:srgbClr val="000000"/>
                </a:solidFill>
              </a:rPr>
              <a:t>(practical) threshold </a:t>
            </a:r>
            <a:endParaRPr/>
          </a:p>
        </p:txBody>
      </p:sp>
      <p:pic>
        <p:nvPicPr>
          <p:cNvPr id="427" name="Google Shape;42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688" y="1604650"/>
            <a:ext cx="6950637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2"/>
          <p:cNvSpPr/>
          <p:nvPr/>
        </p:nvSpPr>
        <p:spPr>
          <a:xfrm>
            <a:off x="1526775" y="3541500"/>
            <a:ext cx="5936400" cy="487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Operational</a:t>
            </a:r>
            <a:r>
              <a:rPr lang="en"/>
              <a:t> Constancy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4" name="Google Shape;43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3"/>
          <p:cNvSpPr/>
          <p:nvPr/>
        </p:nvSpPr>
        <p:spPr>
          <a:xfrm>
            <a:off x="1773825" y="3393125"/>
            <a:ext cx="6073800" cy="738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6" name="Google Shape;436;p53"/>
          <p:cNvSpPr txBox="1"/>
          <p:nvPr/>
        </p:nvSpPr>
        <p:spPr>
          <a:xfrm>
            <a:off x="70225" y="2479500"/>
            <a:ext cx="2924400" cy="461700"/>
          </a:xfrm>
          <a:prstGeom prst="rect">
            <a:avLst/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“Practical” </a:t>
            </a:r>
            <a:r>
              <a:rPr b="1" i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thresholds</a:t>
            </a:r>
            <a:endParaRPr b="1" i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7" name="Google Shape;437;p53"/>
          <p:cNvSpPr txBox="1"/>
          <p:nvPr/>
        </p:nvSpPr>
        <p:spPr>
          <a:xfrm>
            <a:off x="808650" y="3531725"/>
            <a:ext cx="786300" cy="461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25ms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38" name="Google Shape;438;p53"/>
          <p:cNvCxnSpPr/>
          <p:nvPr/>
        </p:nvCxnSpPr>
        <p:spPr>
          <a:xfrm>
            <a:off x="1594950" y="3309725"/>
            <a:ext cx="0" cy="90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Constancy</a:t>
            </a:r>
            <a:endParaRPr/>
          </a:p>
        </p:txBody>
      </p:sp>
      <p:sp>
        <p:nvSpPr>
          <p:cNvPr id="444" name="Google Shape;444;p54"/>
          <p:cNvSpPr txBox="1"/>
          <p:nvPr>
            <p:ph idx="1" type="body"/>
          </p:nvPr>
        </p:nvSpPr>
        <p:spPr>
          <a:xfrm>
            <a:off x="311700" y="1152475"/>
            <a:ext cx="286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Thresholds tested – 25ms, 50ms, and 100ms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At 100ms – nearly all paths stable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445" name="Google Shape;445;p54"/>
          <p:cNvGrpSpPr/>
          <p:nvPr/>
        </p:nvGrpSpPr>
        <p:grpSpPr>
          <a:xfrm>
            <a:off x="3463786" y="1152480"/>
            <a:ext cx="5368525" cy="2395893"/>
            <a:chOff x="3750742" y="445025"/>
            <a:chExt cx="4262764" cy="1748700"/>
          </a:xfrm>
        </p:grpSpPr>
        <p:pic>
          <p:nvPicPr>
            <p:cNvPr id="446" name="Google Shape;446;p54"/>
            <p:cNvPicPr preferRelativeResize="0"/>
            <p:nvPr/>
          </p:nvPicPr>
          <p:blipFill rotWithShape="1">
            <a:blip r:embed="rId3">
              <a:alphaModFix/>
            </a:blip>
            <a:srcRect b="0" l="71301" r="15094" t="0"/>
            <a:stretch/>
          </p:blipFill>
          <p:spPr>
            <a:xfrm>
              <a:off x="7046580" y="445025"/>
              <a:ext cx="966926" cy="174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7" name="Google Shape;447;p54"/>
            <p:cNvPicPr preferRelativeResize="0"/>
            <p:nvPr/>
          </p:nvPicPr>
          <p:blipFill rotWithShape="1">
            <a:blip r:embed="rId3">
              <a:alphaModFix/>
            </a:blip>
            <a:srcRect b="0" l="44499" r="41896" t="0"/>
            <a:stretch/>
          </p:blipFill>
          <p:spPr>
            <a:xfrm>
              <a:off x="6079654" y="445025"/>
              <a:ext cx="966926" cy="174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8" name="Google Shape;448;p54"/>
            <p:cNvPicPr preferRelativeResize="0"/>
            <p:nvPr/>
          </p:nvPicPr>
          <p:blipFill rotWithShape="1">
            <a:blip r:embed="rId3">
              <a:alphaModFix/>
            </a:blip>
            <a:srcRect b="0" l="0" r="67232" t="0"/>
            <a:stretch/>
          </p:blipFill>
          <p:spPr>
            <a:xfrm>
              <a:off x="3750742" y="445025"/>
              <a:ext cx="2328901" cy="1748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9" name="Google Shape;449;p54"/>
          <p:cNvSpPr txBox="1"/>
          <p:nvPr/>
        </p:nvSpPr>
        <p:spPr>
          <a:xfrm>
            <a:off x="4334325" y="3444000"/>
            <a:ext cx="50313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MAX CFR for Operational Constancy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Constancy</a:t>
            </a:r>
            <a:endParaRPr/>
          </a:p>
        </p:txBody>
      </p:sp>
      <p:sp>
        <p:nvSpPr>
          <p:cNvPr id="455" name="Google Shape;455;p55"/>
          <p:cNvSpPr txBox="1"/>
          <p:nvPr>
            <p:ph idx="1" type="body"/>
          </p:nvPr>
        </p:nvSpPr>
        <p:spPr>
          <a:xfrm>
            <a:off x="311700" y="1152475"/>
            <a:ext cx="286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Thresholds tested – 25ms, 50ms, and 100ms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At 100ms – nearly all paths stable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25ms – most are still considered constant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456" name="Google Shape;456;p55"/>
          <p:cNvGrpSpPr/>
          <p:nvPr/>
        </p:nvGrpSpPr>
        <p:grpSpPr>
          <a:xfrm>
            <a:off x="3463786" y="1152480"/>
            <a:ext cx="5368525" cy="2395893"/>
            <a:chOff x="3750742" y="445025"/>
            <a:chExt cx="4262764" cy="1748700"/>
          </a:xfrm>
        </p:grpSpPr>
        <p:pic>
          <p:nvPicPr>
            <p:cNvPr id="457" name="Google Shape;457;p55"/>
            <p:cNvPicPr preferRelativeResize="0"/>
            <p:nvPr/>
          </p:nvPicPr>
          <p:blipFill rotWithShape="1">
            <a:blip r:embed="rId3">
              <a:alphaModFix/>
            </a:blip>
            <a:srcRect b="0" l="71301" r="15094" t="0"/>
            <a:stretch/>
          </p:blipFill>
          <p:spPr>
            <a:xfrm>
              <a:off x="7046580" y="445025"/>
              <a:ext cx="966926" cy="174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55"/>
            <p:cNvPicPr preferRelativeResize="0"/>
            <p:nvPr/>
          </p:nvPicPr>
          <p:blipFill rotWithShape="1">
            <a:blip r:embed="rId3">
              <a:alphaModFix/>
            </a:blip>
            <a:srcRect b="0" l="44499" r="41896" t="0"/>
            <a:stretch/>
          </p:blipFill>
          <p:spPr>
            <a:xfrm>
              <a:off x="6079654" y="445025"/>
              <a:ext cx="966926" cy="174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55"/>
            <p:cNvPicPr preferRelativeResize="0"/>
            <p:nvPr/>
          </p:nvPicPr>
          <p:blipFill rotWithShape="1">
            <a:blip r:embed="rId3">
              <a:alphaModFix/>
            </a:blip>
            <a:srcRect b="0" l="0" r="67232" t="0"/>
            <a:stretch/>
          </p:blipFill>
          <p:spPr>
            <a:xfrm>
              <a:off x="3750742" y="445025"/>
              <a:ext cx="2328901" cy="1748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0" name="Google Shape;460;p55"/>
          <p:cNvSpPr/>
          <p:nvPr/>
        </p:nvSpPr>
        <p:spPr>
          <a:xfrm>
            <a:off x="6613625" y="2042600"/>
            <a:ext cx="837000" cy="124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1" name="Google Shape;461;p55"/>
          <p:cNvSpPr txBox="1"/>
          <p:nvPr/>
        </p:nvSpPr>
        <p:spPr>
          <a:xfrm>
            <a:off x="4334325" y="3444000"/>
            <a:ext cx="50313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MAX CFR for Operational Constancy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Constancy</a:t>
            </a:r>
            <a:endParaRPr/>
          </a:p>
        </p:txBody>
      </p:sp>
      <p:sp>
        <p:nvSpPr>
          <p:cNvPr id="467" name="Google Shape;467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chemeClr val="dk2"/>
                </a:solidFill>
              </a:rPr>
              <a:t>Forecast </a:t>
            </a:r>
            <a:r>
              <a:rPr lang="en">
                <a:solidFill>
                  <a:schemeClr val="dk1"/>
                </a:solidFill>
              </a:rPr>
              <a:t>from past data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68" name="Google Shape;46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563" y="1517575"/>
            <a:ext cx="6949439" cy="3419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Predictive</a:t>
            </a:r>
            <a:r>
              <a:rPr lang="en"/>
              <a:t> Constancy</a:t>
            </a:r>
            <a:endParaRPr/>
          </a:p>
        </p:txBody>
      </p:sp>
      <p:pic>
        <p:nvPicPr>
          <p:cNvPr id="474" name="Google Shape;47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563" y="1517575"/>
            <a:ext cx="6949439" cy="341985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57"/>
          <p:cNvSpPr txBox="1"/>
          <p:nvPr/>
        </p:nvSpPr>
        <p:spPr>
          <a:xfrm>
            <a:off x="1878650" y="2063850"/>
            <a:ext cx="2507700" cy="1015800"/>
          </a:xfrm>
          <a:prstGeom prst="rect">
            <a:avLst/>
          </a:prstGeom>
          <a:solidFill>
            <a:srgbClr val="93C47D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Smaller variations, better predictions, higher constancy …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Constancy</a:t>
            </a:r>
            <a:endParaRPr/>
          </a:p>
        </p:txBody>
      </p:sp>
      <p:sp>
        <p:nvSpPr>
          <p:cNvPr id="481" name="Google Shape;481;p58"/>
          <p:cNvSpPr txBox="1"/>
          <p:nvPr>
            <p:ph idx="1" type="body"/>
          </p:nvPr>
        </p:nvSpPr>
        <p:spPr>
          <a:xfrm>
            <a:off x="311700" y="1152475"/>
            <a:ext cx="286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Used </a:t>
            </a:r>
            <a:r>
              <a:rPr b="1" lang="en">
                <a:solidFill>
                  <a:schemeClr val="dk2"/>
                </a:solidFill>
              </a:rPr>
              <a:t>EWMA, SMA, and Kalman filter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EWMA has lower prediction error than SMA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Kalman filter: lowest error, most accurate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482" name="Google Shape;482;p58"/>
          <p:cNvPicPr preferRelativeResize="0"/>
          <p:nvPr/>
        </p:nvPicPr>
        <p:blipFill rotWithShape="1">
          <a:blip r:embed="rId3">
            <a:alphaModFix/>
          </a:blip>
          <a:srcRect b="0" l="0" r="21179" t="0"/>
          <a:stretch/>
        </p:blipFill>
        <p:spPr>
          <a:xfrm>
            <a:off x="3852725" y="1017725"/>
            <a:ext cx="4694750" cy="245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8"/>
          <p:cNvSpPr txBox="1"/>
          <p:nvPr/>
        </p:nvSpPr>
        <p:spPr>
          <a:xfrm>
            <a:off x="4804200" y="3572350"/>
            <a:ext cx="29442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EWMA prediction </a:t>
            </a: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error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4" name="Google Shape;484;p58"/>
          <p:cNvSpPr/>
          <p:nvPr/>
        </p:nvSpPr>
        <p:spPr>
          <a:xfrm>
            <a:off x="5246650" y="1743550"/>
            <a:ext cx="1881900" cy="400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Constancy</a:t>
            </a:r>
            <a:endParaRPr/>
          </a:p>
        </p:txBody>
      </p:sp>
      <p:sp>
        <p:nvSpPr>
          <p:cNvPr id="490" name="Google Shape;490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Where do </a:t>
            </a:r>
            <a:r>
              <a:rPr b="1" lang="en">
                <a:solidFill>
                  <a:schemeClr val="dk2"/>
                </a:solidFill>
              </a:rPr>
              <a:t>level shifts </a:t>
            </a:r>
            <a:r>
              <a:rPr lang="en">
                <a:solidFill>
                  <a:schemeClr val="dk1"/>
                </a:solidFill>
              </a:rPr>
              <a:t>happen? At </a:t>
            </a:r>
            <a:r>
              <a:rPr b="1" lang="en">
                <a:solidFill>
                  <a:schemeClr val="dk2"/>
                </a:solidFill>
              </a:rPr>
              <a:t>change points</a:t>
            </a:r>
            <a:r>
              <a:rPr lang="en">
                <a:solidFill>
                  <a:schemeClr val="dk1"/>
                </a:solidFill>
              </a:rPr>
              <a:t>!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91" name="Google Shape;49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400" y="1607875"/>
            <a:ext cx="6949439" cy="3419857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9"/>
          <p:cNvSpPr/>
          <p:nvPr/>
        </p:nvSpPr>
        <p:spPr>
          <a:xfrm>
            <a:off x="1722750" y="3899900"/>
            <a:ext cx="1731900" cy="53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3" name="Google Shape;493;p59"/>
          <p:cNvSpPr/>
          <p:nvPr/>
        </p:nvSpPr>
        <p:spPr>
          <a:xfrm>
            <a:off x="3277925" y="3279750"/>
            <a:ext cx="1731900" cy="53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4" name="Google Shape;494;p59"/>
          <p:cNvSpPr/>
          <p:nvPr/>
        </p:nvSpPr>
        <p:spPr>
          <a:xfrm>
            <a:off x="4833100" y="2120850"/>
            <a:ext cx="1731900" cy="53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5" name="Google Shape;495;p59"/>
          <p:cNvSpPr/>
          <p:nvPr/>
        </p:nvSpPr>
        <p:spPr>
          <a:xfrm>
            <a:off x="6388275" y="3755875"/>
            <a:ext cx="1731900" cy="53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6" name="Google Shape;496;p59"/>
          <p:cNvSpPr txBox="1"/>
          <p:nvPr/>
        </p:nvSpPr>
        <p:spPr>
          <a:xfrm>
            <a:off x="3665375" y="2846850"/>
            <a:ext cx="126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~70ms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7" name="Google Shape;497;p59"/>
          <p:cNvSpPr txBox="1"/>
          <p:nvPr/>
        </p:nvSpPr>
        <p:spPr>
          <a:xfrm>
            <a:off x="5278875" y="1738775"/>
            <a:ext cx="126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~140ms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8" name="Google Shape;498;p59"/>
          <p:cNvSpPr txBox="1"/>
          <p:nvPr/>
        </p:nvSpPr>
        <p:spPr>
          <a:xfrm>
            <a:off x="6623325" y="3329250"/>
            <a:ext cx="126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~50ms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9" name="Google Shape;499;p59"/>
          <p:cNvSpPr txBox="1"/>
          <p:nvPr/>
        </p:nvSpPr>
        <p:spPr>
          <a:xfrm>
            <a:off x="2109975" y="3467000"/>
            <a:ext cx="1261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~50ms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0" name="Google Shape;500;p59"/>
          <p:cNvSpPr txBox="1"/>
          <p:nvPr/>
        </p:nvSpPr>
        <p:spPr>
          <a:xfrm>
            <a:off x="1895475" y="2643700"/>
            <a:ext cx="147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Change Free Region 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1" name="Google Shape;501;p59"/>
          <p:cNvSpPr/>
          <p:nvPr/>
        </p:nvSpPr>
        <p:spPr>
          <a:xfrm rot="5400000">
            <a:off x="2321075" y="2700900"/>
            <a:ext cx="416700" cy="1613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Mathematical</a:t>
            </a:r>
            <a:r>
              <a:rPr lang="en"/>
              <a:t> Constancy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7" name="Google Shape;50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800" y="1549350"/>
            <a:ext cx="6624750" cy="3416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8" name="Google Shape;508;p60"/>
          <p:cNvCxnSpPr/>
          <p:nvPr/>
        </p:nvCxnSpPr>
        <p:spPr>
          <a:xfrm>
            <a:off x="2105375" y="434495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60"/>
          <p:cNvCxnSpPr/>
          <p:nvPr/>
        </p:nvCxnSpPr>
        <p:spPr>
          <a:xfrm>
            <a:off x="3485900" y="351690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60"/>
          <p:cNvSpPr/>
          <p:nvPr/>
        </p:nvSpPr>
        <p:spPr>
          <a:xfrm>
            <a:off x="2053800" y="1549350"/>
            <a:ext cx="1352100" cy="3291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511" name="Google Shape;511;p60"/>
          <p:cNvCxnSpPr/>
          <p:nvPr/>
        </p:nvCxnSpPr>
        <p:spPr>
          <a:xfrm>
            <a:off x="4979950" y="2110875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60"/>
          <p:cNvCxnSpPr/>
          <p:nvPr/>
        </p:nvCxnSpPr>
        <p:spPr>
          <a:xfrm>
            <a:off x="6453400" y="4069400"/>
            <a:ext cx="1300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60"/>
          <p:cNvCxnSpPr/>
          <p:nvPr/>
        </p:nvCxnSpPr>
        <p:spPr>
          <a:xfrm rot="10800000">
            <a:off x="3456835" y="1610050"/>
            <a:ext cx="0" cy="3085800"/>
          </a:xfrm>
          <a:prstGeom prst="straightConnector1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14" name="Google Shape;514;p60"/>
          <p:cNvCxnSpPr/>
          <p:nvPr/>
        </p:nvCxnSpPr>
        <p:spPr>
          <a:xfrm rot="10800000">
            <a:off x="4876335" y="1610050"/>
            <a:ext cx="0" cy="3085800"/>
          </a:xfrm>
          <a:prstGeom prst="straightConnector1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15" name="Google Shape;515;p60"/>
          <p:cNvSpPr txBox="1"/>
          <p:nvPr/>
        </p:nvSpPr>
        <p:spPr>
          <a:xfrm>
            <a:off x="94050" y="2493575"/>
            <a:ext cx="2392500" cy="461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Change free regions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6" name="Google Shape;516;p60"/>
          <p:cNvSpPr/>
          <p:nvPr/>
        </p:nvSpPr>
        <p:spPr>
          <a:xfrm>
            <a:off x="3501055" y="1538412"/>
            <a:ext cx="1352100" cy="3291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7" name="Google Shape;517;p60"/>
          <p:cNvSpPr/>
          <p:nvPr/>
        </p:nvSpPr>
        <p:spPr>
          <a:xfrm>
            <a:off x="4930462" y="1538400"/>
            <a:ext cx="1352100" cy="3291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8" name="Google Shape;518;p60"/>
          <p:cNvSpPr/>
          <p:nvPr/>
        </p:nvSpPr>
        <p:spPr>
          <a:xfrm>
            <a:off x="2931025" y="2874600"/>
            <a:ext cx="340500" cy="34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9" name="Google Shape;519;p60"/>
          <p:cNvSpPr/>
          <p:nvPr/>
        </p:nvSpPr>
        <p:spPr>
          <a:xfrm>
            <a:off x="4332200" y="2874600"/>
            <a:ext cx="340500" cy="34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0" name="Google Shape;520;p60"/>
          <p:cNvSpPr/>
          <p:nvPr/>
        </p:nvSpPr>
        <p:spPr>
          <a:xfrm>
            <a:off x="5867575" y="2874600"/>
            <a:ext cx="340500" cy="34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Constancy</a:t>
            </a:r>
            <a:endParaRPr/>
          </a:p>
        </p:txBody>
      </p:sp>
      <p:pic>
        <p:nvPicPr>
          <p:cNvPr id="526" name="Google Shape;52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9625" y="1170125"/>
            <a:ext cx="5551974" cy="31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2"/>
          <p:cNvSpPr txBox="1"/>
          <p:nvPr>
            <p:ph idx="1" type="body"/>
          </p:nvPr>
        </p:nvSpPr>
        <p:spPr>
          <a:xfrm>
            <a:off x="311700" y="1152475"/>
            <a:ext cx="282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Median change-free region (CFR): </a:t>
            </a:r>
            <a:r>
              <a:rPr b="1" lang="en">
                <a:solidFill>
                  <a:schemeClr val="dk2"/>
                </a:solidFill>
              </a:rPr>
              <a:t>50–150 hours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32" name="Google Shape;532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Constancy</a:t>
            </a:r>
            <a:endParaRPr/>
          </a:p>
        </p:txBody>
      </p:sp>
      <p:pic>
        <p:nvPicPr>
          <p:cNvPr id="533" name="Google Shape;53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9625" y="1170125"/>
            <a:ext cx="5551974" cy="313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4" name="Google Shape;534;p62"/>
          <p:cNvCxnSpPr/>
          <p:nvPr/>
        </p:nvCxnSpPr>
        <p:spPr>
          <a:xfrm flipH="1" rot="10800000">
            <a:off x="4481275" y="2331425"/>
            <a:ext cx="2661900" cy="1560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62"/>
          <p:cNvCxnSpPr/>
          <p:nvPr/>
        </p:nvCxnSpPr>
        <p:spPr>
          <a:xfrm>
            <a:off x="5473025" y="2347775"/>
            <a:ext cx="0" cy="108120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62"/>
          <p:cNvCxnSpPr/>
          <p:nvPr/>
        </p:nvCxnSpPr>
        <p:spPr>
          <a:xfrm>
            <a:off x="7118525" y="2320075"/>
            <a:ext cx="0" cy="108120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62"/>
          <p:cNvCxnSpPr/>
          <p:nvPr/>
        </p:nvCxnSpPr>
        <p:spPr>
          <a:xfrm>
            <a:off x="6859050" y="2320075"/>
            <a:ext cx="0" cy="108120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Inflation</a:t>
            </a:r>
            <a:endParaRPr/>
          </a:p>
        </p:txBody>
      </p:sp>
      <p:sp>
        <p:nvSpPr>
          <p:cNvPr id="543" name="Google Shape;543;p63"/>
          <p:cNvSpPr txBox="1"/>
          <p:nvPr>
            <p:ph idx="1" type="body"/>
          </p:nvPr>
        </p:nvSpPr>
        <p:spPr>
          <a:xfrm>
            <a:off x="311700" y="1152475"/>
            <a:ext cx="267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Compared to theoretical minimum fiber optic RTT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44" name="Google Shape;54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700" y="1170125"/>
            <a:ext cx="5847900" cy="325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Inflation</a:t>
            </a:r>
            <a:endParaRPr/>
          </a:p>
        </p:txBody>
      </p:sp>
      <p:sp>
        <p:nvSpPr>
          <p:cNvPr id="550" name="Google Shape;550;p64"/>
          <p:cNvSpPr txBox="1"/>
          <p:nvPr>
            <p:ph idx="1" type="body"/>
          </p:nvPr>
        </p:nvSpPr>
        <p:spPr>
          <a:xfrm>
            <a:off x="311700" y="1152475"/>
            <a:ext cx="267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Compared to theoretical minimum fiber optic RTT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Most paths close to ideal</a:t>
            </a:r>
            <a:endParaRPr b="1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Some &gt; 100x inflated </a:t>
            </a:r>
            <a:r>
              <a:rPr lang="en">
                <a:solidFill>
                  <a:srgbClr val="000000"/>
                </a:solidFill>
              </a:rPr>
              <a:t>— due to routing/ geolocation issues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51" name="Google Shape;55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700" y="1170125"/>
            <a:ext cx="5847900" cy="3254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2" name="Google Shape;552;p64"/>
          <p:cNvCxnSpPr/>
          <p:nvPr/>
        </p:nvCxnSpPr>
        <p:spPr>
          <a:xfrm flipH="1">
            <a:off x="6683425" y="1287475"/>
            <a:ext cx="10800" cy="231180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558" name="Google Shape;558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Spikes</a:t>
            </a:r>
            <a:r>
              <a:rPr lang="en">
                <a:solidFill>
                  <a:srgbClr val="000000"/>
                </a:solidFill>
              </a:rPr>
              <a:t>: 3.84% show ≥ 10× spikes; prior work saw 0.01%.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Constancy</a:t>
            </a:r>
            <a:r>
              <a:rPr lang="en">
                <a:solidFill>
                  <a:srgbClr val="000000"/>
                </a:solidFill>
              </a:rPr>
              <a:t>: Median of Max CFR 3× longer than prior work.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Inefficiencies</a:t>
            </a:r>
            <a:r>
              <a:rPr lang="en">
                <a:solidFill>
                  <a:srgbClr val="000000"/>
                </a:solidFill>
              </a:rPr>
              <a:t>: Some latencies are significantly larger than theoretical minimums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But, wait! What about …</a:t>
            </a:r>
            <a:endParaRPr/>
          </a:p>
        </p:txBody>
      </p:sp>
      <p:sp>
        <p:nvSpPr>
          <p:cNvPr id="564" name="Google Shape;564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… </a:t>
            </a:r>
            <a:r>
              <a:rPr b="1" lang="en">
                <a:solidFill>
                  <a:schemeClr val="dk2"/>
                </a:solidFill>
              </a:rPr>
              <a:t>short-term tendencies</a:t>
            </a:r>
            <a:r>
              <a:rPr lang="en">
                <a:solidFill>
                  <a:srgbClr val="000000"/>
                </a:solidFill>
              </a:rPr>
              <a:t> in a timeline?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… </a:t>
            </a:r>
            <a:r>
              <a:rPr b="1" lang="en">
                <a:solidFill>
                  <a:schemeClr val="dk2"/>
                </a:solidFill>
              </a:rPr>
              <a:t>IPv6</a:t>
            </a:r>
            <a:r>
              <a:rPr lang="en">
                <a:solidFill>
                  <a:srgbClr val="000000"/>
                </a:solidFill>
              </a:rPr>
              <a:t>?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… the path that packets take </a:t>
            </a:r>
            <a:r>
              <a:rPr b="1" lang="en">
                <a:solidFill>
                  <a:schemeClr val="dk2"/>
                </a:solidFill>
              </a:rPr>
              <a:t>between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vantage points and targets?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… the reason</a:t>
            </a:r>
            <a:r>
              <a:rPr b="1" lang="en">
                <a:solidFill>
                  <a:schemeClr val="dk2"/>
                </a:solidFill>
              </a:rPr>
              <a:t> w</a:t>
            </a:r>
            <a:r>
              <a:rPr b="1" lang="en">
                <a:solidFill>
                  <a:schemeClr val="dk2"/>
                </a:solidFill>
              </a:rPr>
              <a:t>hy </a:t>
            </a:r>
            <a:r>
              <a:rPr lang="en">
                <a:solidFill>
                  <a:srgbClr val="000000"/>
                </a:solidFill>
              </a:rPr>
              <a:t>level shifts happen</a:t>
            </a:r>
            <a:r>
              <a:rPr lang="en">
                <a:solidFill>
                  <a:srgbClr val="000000"/>
                </a:solidFill>
              </a:rPr>
              <a:t>?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… </a:t>
            </a:r>
            <a:r>
              <a:rPr b="1" lang="en">
                <a:solidFill>
                  <a:schemeClr val="dk2"/>
                </a:solidFill>
              </a:rPr>
              <a:t>last mile</a:t>
            </a:r>
            <a:r>
              <a:rPr lang="en">
                <a:solidFill>
                  <a:srgbClr val="000000"/>
                </a:solidFill>
              </a:rPr>
              <a:t> delivery?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7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840">
                <a:solidFill>
                  <a:schemeClr val="dk1"/>
                </a:solidFill>
              </a:rPr>
              <a:t>📧 </a:t>
            </a:r>
            <a:r>
              <a:rPr lang="en" sz="1840">
                <a:solidFill>
                  <a:schemeClr val="dk1"/>
                </a:solidFill>
              </a:rPr>
              <a:t>Feel free to email me at</a:t>
            </a:r>
            <a:r>
              <a:rPr b="1" lang="en" sz="1840">
                <a:solidFill>
                  <a:schemeClr val="dk1"/>
                </a:solidFill>
              </a:rPr>
              <a:t> f20212071@goa.bits-pilani.ac.in</a:t>
            </a:r>
            <a:endParaRPr b="1" sz="18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" sz="1840">
                <a:solidFill>
                  <a:schemeClr val="dk1"/>
                </a:solidFill>
              </a:rPr>
              <a:t>🔗 </a:t>
            </a:r>
            <a:r>
              <a:rPr lang="en" sz="1840">
                <a:solidFill>
                  <a:schemeClr val="dk1"/>
                </a:solidFill>
              </a:rPr>
              <a:t>Code and data at </a:t>
            </a:r>
            <a:r>
              <a:rPr b="1" lang="en" sz="1840">
                <a:solidFill>
                  <a:schemeClr val="dk1"/>
                </a:solidFill>
              </a:rPr>
              <a:t>github.com/adityabhat3/const-lat</a:t>
            </a:r>
            <a:endParaRPr b="1" sz="1840">
              <a:solidFill>
                <a:schemeClr val="dk1"/>
              </a:solidFill>
            </a:endParaRPr>
          </a:p>
        </p:txBody>
      </p:sp>
      <p:sp>
        <p:nvSpPr>
          <p:cNvPr id="570" name="Google Shape;570;p67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</a:rPr>
              <a:t>Questions?</a:t>
            </a:r>
            <a:endParaRPr sz="4400">
              <a:solidFill>
                <a:schemeClr val="dk1"/>
              </a:solidFill>
            </a:endParaRPr>
          </a:p>
        </p:txBody>
      </p:sp>
      <p:sp>
        <p:nvSpPr>
          <p:cNvPr id="571" name="Google Shape;571;p67"/>
          <p:cNvSpPr txBox="1"/>
          <p:nvPr/>
        </p:nvSpPr>
        <p:spPr>
          <a:xfrm>
            <a:off x="588850" y="3976450"/>
            <a:ext cx="81972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72" name="Google Shape;57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1025" y="213229"/>
            <a:ext cx="2811725" cy="245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Contributions</a:t>
            </a:r>
            <a:endParaRPr/>
          </a:p>
        </p:txBody>
      </p:sp>
      <p:sp>
        <p:nvSpPr>
          <p:cNvPr id="578" name="Google Shape;578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>
                <a:solidFill>
                  <a:srgbClr val="000000"/>
                </a:solidFill>
              </a:rPr>
              <a:t>Large-scale study of latency to CDN edge servers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>
                <a:solidFill>
                  <a:srgbClr val="000000"/>
                </a:solidFill>
              </a:rPr>
              <a:t>Used RIPE Atlas anchors as end-user estimators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>
                <a:solidFill>
                  <a:srgbClr val="000000"/>
                </a:solidFill>
              </a:rPr>
              <a:t>Used notions of constancy – mathematical, operational, and predictive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>
                <a:solidFill>
                  <a:srgbClr val="000000"/>
                </a:solidFill>
              </a:rPr>
              <a:t>Compared to past studies of probe-probe paths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>
                <a:solidFill>
                  <a:srgbClr val="000000"/>
                </a:solidFill>
              </a:rPr>
              <a:t>Released open-source tools and data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79" name="Google Shape;579;p68" title="RIPE_Atla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0263" y="2942052"/>
            <a:ext cx="3123475" cy="19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 (TODO)</a:t>
            </a:r>
            <a:endParaRPr/>
          </a:p>
        </p:txBody>
      </p:sp>
      <p:sp>
        <p:nvSpPr>
          <p:cNvPr id="585" name="Google Shape;585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>
                <a:solidFill>
                  <a:srgbClr val="000000"/>
                </a:solidFill>
              </a:rPr>
              <a:t>Good news for:</a:t>
            </a:r>
            <a:endParaRPr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</a:pPr>
            <a:r>
              <a:rPr lang="en">
                <a:solidFill>
                  <a:srgbClr val="000000"/>
                </a:solidFill>
              </a:rPr>
              <a:t>Video streaming</a:t>
            </a:r>
            <a:endParaRPr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</a:pPr>
            <a:r>
              <a:rPr lang="en">
                <a:solidFill>
                  <a:srgbClr val="000000"/>
                </a:solidFill>
              </a:rPr>
              <a:t>Cloud gaming</a:t>
            </a:r>
            <a:endParaRPr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</a:pPr>
            <a:r>
              <a:rPr lang="en">
                <a:solidFill>
                  <a:srgbClr val="000000"/>
                </a:solidFill>
              </a:rPr>
              <a:t>Real-time apps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>
                <a:solidFill>
                  <a:srgbClr val="000000"/>
                </a:solidFill>
              </a:rPr>
              <a:t>Helps TCP tuning, path prediction, and fault detection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725" y="3295350"/>
            <a:ext cx="819900" cy="81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70"/>
          <p:cNvPicPr preferRelativeResize="0"/>
          <p:nvPr/>
        </p:nvPicPr>
        <p:blipFill rotWithShape="1">
          <a:blip r:embed="rId4">
            <a:alphaModFix/>
          </a:blip>
          <a:srcRect b="25176" l="0" r="0" t="23348"/>
          <a:stretch/>
        </p:blipFill>
        <p:spPr>
          <a:xfrm>
            <a:off x="6402200" y="3362899"/>
            <a:ext cx="1094465" cy="7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70"/>
          <p:cNvPicPr preferRelativeResize="0"/>
          <p:nvPr/>
        </p:nvPicPr>
        <p:blipFill rotWithShape="1">
          <a:blip r:embed="rId5">
            <a:alphaModFix/>
          </a:blip>
          <a:srcRect b="19238" l="0" r="0" t="22813"/>
          <a:stretch/>
        </p:blipFill>
        <p:spPr>
          <a:xfrm>
            <a:off x="5265550" y="4440975"/>
            <a:ext cx="1097250" cy="548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0533" y="4483097"/>
            <a:ext cx="632829" cy="43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22715" y="4168902"/>
            <a:ext cx="1097248" cy="219097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</a:t>
            </a:r>
            <a:r>
              <a:rPr lang="en"/>
              <a:t> Setup</a:t>
            </a:r>
            <a:endParaRPr/>
          </a:p>
        </p:txBody>
      </p:sp>
      <p:pic>
        <p:nvPicPr>
          <p:cNvPr id="596" name="Google Shape;596;p70" title="a technical diagram of how data is received to a user from a origin server, with and without a CDN server. Keep the cdn server close to the user and the origin server far away. use simple colors. use icons only NO TEXT anyw.jpg"/>
          <p:cNvPicPr preferRelativeResize="0"/>
          <p:nvPr/>
        </p:nvPicPr>
        <p:blipFill rotWithShape="1">
          <a:blip r:embed="rId8">
            <a:alphaModFix/>
          </a:blip>
          <a:srcRect b="30236" l="8920" r="43681" t="30464"/>
          <a:stretch/>
        </p:blipFill>
        <p:spPr>
          <a:xfrm>
            <a:off x="2119275" y="1069375"/>
            <a:ext cx="4905451" cy="22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70"/>
          <p:cNvSpPr txBox="1"/>
          <p:nvPr/>
        </p:nvSpPr>
        <p:spPr>
          <a:xfrm>
            <a:off x="5976000" y="2888600"/>
            <a:ext cx="170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Targets</a:t>
            </a: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8" name="Google Shape;598;p70"/>
          <p:cNvSpPr/>
          <p:nvPr/>
        </p:nvSpPr>
        <p:spPr>
          <a:xfrm>
            <a:off x="4234125" y="1069375"/>
            <a:ext cx="853500" cy="72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9" name="Google Shape;599;p70"/>
          <p:cNvSpPr/>
          <p:nvPr/>
        </p:nvSpPr>
        <p:spPr>
          <a:xfrm rot="-5400000">
            <a:off x="3708250" y="2070575"/>
            <a:ext cx="1119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0" name="Google Shape;600;p70"/>
          <p:cNvSpPr/>
          <p:nvPr/>
        </p:nvSpPr>
        <p:spPr>
          <a:xfrm rot="5400000">
            <a:off x="5558975" y="2070575"/>
            <a:ext cx="1119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1" name="Google Shape;601;p70"/>
          <p:cNvSpPr/>
          <p:nvPr/>
        </p:nvSpPr>
        <p:spPr>
          <a:xfrm>
            <a:off x="1933375" y="3102375"/>
            <a:ext cx="637800" cy="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02" name="Google Shape;602;p7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42550" y="3368125"/>
            <a:ext cx="1655100" cy="16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70"/>
          <p:cNvSpPr txBox="1"/>
          <p:nvPr/>
        </p:nvSpPr>
        <p:spPr>
          <a:xfrm>
            <a:off x="4297638" y="1441925"/>
            <a:ext cx="131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Timeline</a:t>
            </a: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   RTT</a:t>
            </a: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4" name="Google Shape;604;p70"/>
          <p:cNvSpPr txBox="1"/>
          <p:nvPr/>
        </p:nvSpPr>
        <p:spPr>
          <a:xfrm>
            <a:off x="6106575" y="4240850"/>
            <a:ext cx="1655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05" name="Google Shape;605;p70"/>
          <p:cNvPicPr preferRelativeResize="0"/>
          <p:nvPr/>
        </p:nvPicPr>
        <p:blipFill rotWithShape="1">
          <a:blip r:embed="rId10">
            <a:alphaModFix amt="13000"/>
          </a:blip>
          <a:srcRect b="0" l="0" r="0" t="13770"/>
          <a:stretch/>
        </p:blipFill>
        <p:spPr>
          <a:xfrm>
            <a:off x="2064400" y="5188781"/>
            <a:ext cx="8433375" cy="3589344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70"/>
          <p:cNvSpPr/>
          <p:nvPr/>
        </p:nvSpPr>
        <p:spPr>
          <a:xfrm>
            <a:off x="2978950" y="2990850"/>
            <a:ext cx="861600" cy="43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7" name="Google Shape;607;p70"/>
          <p:cNvSpPr txBox="1"/>
          <p:nvPr/>
        </p:nvSpPr>
        <p:spPr>
          <a:xfrm>
            <a:off x="2577100" y="2888600"/>
            <a:ext cx="2374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Vantage Points</a:t>
            </a:r>
            <a:b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Inter-AS and Intra-AS Paths</a:t>
            </a:r>
            <a:endParaRPr/>
          </a:p>
        </p:txBody>
      </p:sp>
      <p:sp>
        <p:nvSpPr>
          <p:cNvPr id="613" name="Google Shape;613;p71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Inter-AS: longer CFRs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Intra-AS: more frequent changes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Changes do not increase latency significantly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614" name="Google Shape;61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6000" y="1152473"/>
            <a:ext cx="4438750" cy="2499601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1"/>
          <p:cNvSpPr txBox="1"/>
          <p:nvPr/>
        </p:nvSpPr>
        <p:spPr>
          <a:xfrm>
            <a:off x="4572000" y="3609975"/>
            <a:ext cx="420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Inter-AS paths remain stable for longer than intra-AS paths, which may reflect internal network optimizations.</a:t>
            </a:r>
            <a:endParaRPr sz="1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